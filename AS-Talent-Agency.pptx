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Обложка. AS Talent Agency — агентство полного цикла: таланты, соцсети, OnlyFans, поддержка 24/7.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Кто мы: агентство полного цикла, 3+ года, индивидуальный подход, таланты по всему миру.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Наши топ-авторы и их суммарный охват. Присутствие на X, TikTok и Instagram.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ключевые услуги + поддерживающие: чаттинг, контент-план, аналитика.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Ключевые цифры и социальное доказательство.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Процесс из 4 шагов: онбординг, стратегия, контент и соцсети, рост и удержание.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Преимущества AS Talent: персональный менеджер, 24/7, аналитика, свобода творчества, любой уровень, глобальный охват.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Контакты и призыв к действию. Сайт: astalentagency.com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4.png"/><Relationship Id="rId8" Type="http://schemas.openxmlformats.org/officeDocument/2006/relationships/image" Target="../media/image-3-5.png"/><Relationship Id="rId9" Type="http://schemas.openxmlformats.org/officeDocument/2006/relationships/image" Target="../media/image-3-9.png"/><Relationship Id="rId10" Type="http://schemas.openxmlformats.org/officeDocument/2006/relationships/image" Target="../media/image-3-3.png"/><Relationship Id="rId11" Type="http://schemas.openxmlformats.org/officeDocument/2006/relationships/image" Target="../media/image-3-4.png"/><Relationship Id="rId12" Type="http://schemas.openxmlformats.org/officeDocument/2006/relationships/image" Target="../media/image-3-5.png"/><Relationship Id="rId13" Type="http://schemas.openxmlformats.org/officeDocument/2006/relationships/image" Target="../media/image-3-13.png"/><Relationship Id="rId14" Type="http://schemas.openxmlformats.org/officeDocument/2006/relationships/image" Target="../media/image-3-3.png"/><Relationship Id="rId15" Type="http://schemas.openxmlformats.org/officeDocument/2006/relationships/image" Target="../media/image-3-4.png"/><Relationship Id="rId16" Type="http://schemas.openxmlformats.org/officeDocument/2006/relationships/image" Target="../media/image-3-5.png"/><Relationship Id="rId17" Type="http://schemas.openxmlformats.org/officeDocument/2006/relationships/image" Target="../media/image-3-17.png"/><Relationship Id="rId18" Type="http://schemas.openxmlformats.org/officeDocument/2006/relationships/image" Target="../media/image-3-3.png"/><Relationship Id="rId19" Type="http://schemas.openxmlformats.org/officeDocument/2006/relationships/image" Target="../media/image-3-4.png"/><Relationship Id="rId20" Type="http://schemas.openxmlformats.org/officeDocument/2006/relationships/image" Target="../media/image-3-5.png"/><Relationship Id="rId21" Type="http://schemas.openxmlformats.org/officeDocument/2006/relationships/image" Target="../media/image-3-21.png"/><Relationship Id="rId22" Type="http://schemas.openxmlformats.org/officeDocument/2006/relationships/image" Target="../media/image-3-3.png"/><Relationship Id="rId23" Type="http://schemas.openxmlformats.org/officeDocument/2006/relationships/image" Target="../media/image-3-4.png"/><Relationship Id="rId24" Type="http://schemas.openxmlformats.org/officeDocument/2006/relationships/image" Target="../media/image-3-5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 ·  SOCIAL MEDIA  ·  ONLYFANS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60020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Talent Agency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3EA5"/>
                </a:solidFill>
                <a:effectLst>
                  <a:glow rad="101600">
                    <a:srgbClr val="FF0090">
                      <a:alpha val="5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AS Superpowers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талантами, соцсетями и OnlyFans — 24/7.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Helping creators unlock their true potential.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astalentagency.com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мы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852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D2D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Talent — ведущее агентство по маркетингу и менеджменту OnlyFans. Более 3 лет мы помогаем авторам раскрыть потенциал и кратно увеличить доход. Мы берём на себя весь бизнес — от стратегии и соцсетей до общения с фанатами — а автор фокусируется на контенте.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538728"/>
            <a:ext cx="310896" cy="310896"/>
          </a:xfrm>
          <a:prstGeom prst="ellipse">
            <a:avLst/>
          </a:prstGeom>
          <a:solidFill>
            <a:srgbClr val="FF149A"/>
          </a:solidFill>
          <a:ln w="12700">
            <a:solidFill>
              <a:srgbClr val="FF3EA5"/>
            </a:solidFill>
            <a:prstDash val="solid"/>
          </a:ln>
          <a:effectLst>
            <a:outerShdw sx="100000" sy="100000" kx="0" ky="0" algn="bl" rotWithShape="0" blurRad="177800" dist="50800" dir="16200000">
              <a:srgbClr val="FF009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3392424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strategy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7033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2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Индивидуальная стратегия под каждого автора — «no two creators are alike».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453128"/>
            <a:ext cx="310896" cy="310896"/>
          </a:xfrm>
          <a:prstGeom prst="ellipse">
            <a:avLst/>
          </a:prstGeom>
          <a:solidFill>
            <a:srgbClr val="FF149A"/>
          </a:solidFill>
          <a:ln w="12700">
            <a:solidFill>
              <a:srgbClr val="FF3EA5"/>
            </a:solidFill>
            <a:prstDash val="solid"/>
          </a:ln>
          <a:effectLst>
            <a:outerShdw sx="100000" sy="100000" kx="0" ky="0" algn="bl" rotWithShape="0" blurRad="177800" dist="50800" dir="16200000">
              <a:srgbClr val="FF009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4306824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Full-cycle management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4617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2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под ключ: контент, соцсети, чаттинг, аналитика.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5367528"/>
            <a:ext cx="310896" cy="310896"/>
          </a:xfrm>
          <a:prstGeom prst="ellipse">
            <a:avLst/>
          </a:prstGeom>
          <a:solidFill>
            <a:srgbClr val="FF149A"/>
          </a:solidFill>
          <a:ln w="12700">
            <a:solidFill>
              <a:srgbClr val="FF3EA5"/>
            </a:solidFill>
            <a:prstDash val="solid"/>
          </a:ln>
          <a:effectLst>
            <a:outerShdw sx="100000" sy="100000" kx="0" ky="0" algn="bl" rotWithShape="0" blurRad="177800" dist="50800" dir="16200000">
              <a:srgbClr val="FF009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5221224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roster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5532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2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Работаем с топ-моделями и блогерами по всему миру.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40880" y="1783080"/>
            <a:ext cx="4526280" cy="4206240"/>
          </a:xfrm>
          <a:prstGeom prst="roundRect">
            <a:avLst>
              <a:gd name="adj" fmla="val 2609"/>
            </a:avLst>
          </a:prstGeom>
          <a:solidFill>
            <a:srgbClr val="111114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21488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 two creators</a:t>
            </a:r>
            <a:endParaRPr lang="en-US" sz="2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alike.”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7360920" y="34290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не используем шаблонные решения — стратегия строится под бренд и цели каждого автора.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60920" y="4526280"/>
            <a:ext cx="3886200" cy="0"/>
          </a:xfrm>
          <a:prstGeom prst="line">
            <a:avLst/>
          </a:prstGeom>
          <a:noFill/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47091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 3 месяца количество подписчиков удвоилось, а доход вырос втрое.»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60920" y="5532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6A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отзыв автора / creator testimonial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TALENT  /  НАШИ ТАЛАНТЫ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85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effectLst>
                  <a:glow rad="101600">
                    <a:srgbClr val="FF0090">
                      <a:alpha val="5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AS Superpowers</a:t>
            </a:r>
            <a:endParaRPr lang="en-US" sz="3800" dirty="0"/>
          </a:p>
        </p:txBody>
      </p:sp>
      <p:pic>
        <p:nvPicPr>
          <p:cNvPr id="4" name="Image 0" descr="/tmp/claude-0/-home-user-dasdsjfoisdjfoisj-github-io/f756b5b4-9ba5-5f42-afc2-0aa030ec1623/scratchpad/asdeck/assets/av-el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396" y="1508760"/>
            <a:ext cx="123444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28163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 VASILENKO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50976" y="3200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A6A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10.5M FOLLOWERS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029968" y="352958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8" name="Image 1" descr="/tmp/claude-0/-home-user-dasdsjfoisdjfoisj-github-io/f756b5b4-9ba5-5f42-afc2-0aa030ec1623/scratchpad/asdeck/assets/ic-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548" y="3598164"/>
            <a:ext cx="173736" cy="1737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487168" y="352958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0" name="Image 2" descr="/tmp/claude-0/-home-user-dasdsjfoisdjfoisj-github-io/f756b5b4-9ba5-5f42-afc2-0aa030ec1623/scratchpad/asdeck/assets/ic-tikt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48" y="3598164"/>
            <a:ext cx="173736" cy="17373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944368" y="352958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2" name="Image 3" descr="/tmp/claude-0/-home-user-dasdsjfoisdjfoisj-github-io/f756b5b4-9ba5-5f42-afc2-0aa030ec1623/scratchpad/asdeck/assets/ic-instagra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2948" y="3598164"/>
            <a:ext cx="173736" cy="173736"/>
          </a:xfrm>
          <a:prstGeom prst="rect">
            <a:avLst/>
          </a:prstGeom>
        </p:spPr>
      </p:pic>
      <p:pic>
        <p:nvPicPr>
          <p:cNvPr id="13" name="Image 4" descr="/tmp/claude-0/-home-user-dasdsjfoisdjfoisj-github-io/f756b5b4-9ba5-5f42-afc2-0aa030ec1623/scratchpad/asdeck/assets/av-capri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9085" y="1508760"/>
            <a:ext cx="1234440" cy="12344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04665" y="28163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CAPRICE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4404665" y="3200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A6A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11M FOLLOWERS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5712257" y="352958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7" name="Image 5" descr="/tmp/claude-0/-home-user-dasdsjfoisdjfoisj-github-io/f756b5b4-9ba5-5f42-afc2-0aa030ec1623/scratchpad/asdeck/assets/ic-tikto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0837" y="3598164"/>
            <a:ext cx="173736" cy="173736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6169457" y="352958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9" name="Image 6" descr="/tmp/claude-0/-home-user-dasdsjfoisdjfoisj-github-io/f756b5b4-9ba5-5f42-afc2-0aa030ec1623/scratchpad/asdeck/assets/ic-instagra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037" y="3598164"/>
            <a:ext cx="173736" cy="173736"/>
          </a:xfrm>
          <a:prstGeom prst="rect">
            <a:avLst/>
          </a:prstGeom>
        </p:spPr>
      </p:pic>
      <p:pic>
        <p:nvPicPr>
          <p:cNvPr id="20" name="Image 7" descr="/tmp/claude-0/-home-user-dasdsjfoisdjfoisj-github-io/f756b5b4-9ba5-5f42-afc2-0aa030ec1623/scratchpad/asdeck/assets/av-macc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9116" y="1508760"/>
            <a:ext cx="1234440" cy="123444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854696" y="28163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MACCA</a:t>
            </a:r>
            <a:endParaRPr lang="en-US" sz="1500" dirty="0"/>
          </a:p>
        </p:txBody>
      </p:sp>
      <p:sp>
        <p:nvSpPr>
          <p:cNvPr id="22" name="Text 12"/>
          <p:cNvSpPr/>
          <p:nvPr/>
        </p:nvSpPr>
        <p:spPr>
          <a:xfrm>
            <a:off x="7854696" y="3200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A6A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1.5M FOLLOWERS</a:t>
            </a:r>
            <a:endParaRPr lang="en-US" sz="1050" dirty="0"/>
          </a:p>
        </p:txBody>
      </p:sp>
      <p:sp>
        <p:nvSpPr>
          <p:cNvPr id="23" name="Shape 13"/>
          <p:cNvSpPr/>
          <p:nvPr/>
        </p:nvSpPr>
        <p:spPr>
          <a:xfrm>
            <a:off x="8933688" y="352958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24" name="Image 8" descr="/tmp/claude-0/-home-user-dasdsjfoisdjfoisj-github-io/f756b5b4-9ba5-5f42-afc2-0aa030ec1623/scratchpad/asdeck/assets/ic-x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2268" y="3598164"/>
            <a:ext cx="173736" cy="173736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9390888" y="352958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26" name="Image 9" descr="/tmp/claude-0/-home-user-dasdsjfoisdjfoisj-github-io/f756b5b4-9ba5-5f42-afc2-0aa030ec1623/scratchpad/asdeck/assets/ic-tikto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59468" y="3598164"/>
            <a:ext cx="173736" cy="173736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9848088" y="352958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28" name="Image 10" descr="/tmp/claude-0/-home-user-dasdsjfoisdjfoisj-github-io/f756b5b4-9ba5-5f42-afc2-0aa030ec1623/scratchpad/asdeck/assets/ic-instagram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16668" y="3598164"/>
            <a:ext cx="173736" cy="173736"/>
          </a:xfrm>
          <a:prstGeom prst="rect">
            <a:avLst/>
          </a:prstGeom>
        </p:spPr>
      </p:pic>
      <p:pic>
        <p:nvPicPr>
          <p:cNvPr id="29" name="Image 11" descr="/tmp/claude-0/-home-user-dasdsjfoisdjfoisj-github-io/f756b5b4-9ba5-5f42-afc2-0aa030ec1623/scratchpad/asdeck/assets/av-kuri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25396" y="4114800"/>
            <a:ext cx="1234440" cy="123444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950976" y="54223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KURI EMI</a:t>
            </a:r>
            <a:endParaRPr lang="en-US" sz="1500" dirty="0"/>
          </a:p>
        </p:txBody>
      </p:sp>
      <p:sp>
        <p:nvSpPr>
          <p:cNvPr id="31" name="Text 17"/>
          <p:cNvSpPr/>
          <p:nvPr/>
        </p:nvSpPr>
        <p:spPr>
          <a:xfrm>
            <a:off x="950976" y="5806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A6A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2.5M FOLLOWERS</a:t>
            </a:r>
            <a:endParaRPr lang="en-US" sz="1050" dirty="0"/>
          </a:p>
        </p:txBody>
      </p:sp>
      <p:sp>
        <p:nvSpPr>
          <p:cNvPr id="32" name="Shape 18"/>
          <p:cNvSpPr/>
          <p:nvPr/>
        </p:nvSpPr>
        <p:spPr>
          <a:xfrm>
            <a:off x="2029968" y="613562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33" name="Image 12" descr="/tmp/claude-0/-home-user-dasdsjfoisdjfoisj-github-io/f756b5b4-9ba5-5f42-afc2-0aa030ec1623/scratchpad/asdeck/assets/ic-x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8548" y="6204204"/>
            <a:ext cx="173736" cy="173736"/>
          </a:xfrm>
          <a:prstGeom prst="rect">
            <a:avLst/>
          </a:prstGeom>
        </p:spPr>
      </p:pic>
      <p:sp>
        <p:nvSpPr>
          <p:cNvPr id="34" name="Shape 19"/>
          <p:cNvSpPr/>
          <p:nvPr/>
        </p:nvSpPr>
        <p:spPr>
          <a:xfrm>
            <a:off x="2487168" y="613562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35" name="Image 13" descr="/tmp/claude-0/-home-user-dasdsjfoisdjfoisj-github-io/f756b5b4-9ba5-5f42-afc2-0aa030ec1623/scratchpad/asdeck/assets/ic-tiktok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55748" y="6204204"/>
            <a:ext cx="173736" cy="173736"/>
          </a:xfrm>
          <a:prstGeom prst="rect">
            <a:avLst/>
          </a:prstGeom>
        </p:spPr>
      </p:pic>
      <p:sp>
        <p:nvSpPr>
          <p:cNvPr id="36" name="Shape 20"/>
          <p:cNvSpPr/>
          <p:nvPr/>
        </p:nvSpPr>
        <p:spPr>
          <a:xfrm>
            <a:off x="2944368" y="613562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37" name="Image 14" descr="/tmp/claude-0/-home-user-dasdsjfoisdjfoisj-github-io/f756b5b4-9ba5-5f42-afc2-0aa030ec1623/scratchpad/asdeck/assets/ic-instagram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12948" y="6204204"/>
            <a:ext cx="173736" cy="173736"/>
          </a:xfrm>
          <a:prstGeom prst="rect">
            <a:avLst/>
          </a:prstGeom>
        </p:spPr>
      </p:pic>
      <p:pic>
        <p:nvPicPr>
          <p:cNvPr id="38" name="Image 15" descr="/tmp/claude-0/-home-user-dasdsjfoisdjfoisj-github-io/f756b5b4-9ba5-5f42-afc2-0aa030ec1623/scratchpad/asdeck/assets/av-qimmah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79085" y="4114800"/>
            <a:ext cx="1234440" cy="1234440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4404665" y="54223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QIMMAH RUSSO</a:t>
            </a:r>
            <a:endParaRPr lang="en-US" sz="1500" dirty="0"/>
          </a:p>
        </p:txBody>
      </p:sp>
      <p:sp>
        <p:nvSpPr>
          <p:cNvPr id="40" name="Text 22"/>
          <p:cNvSpPr/>
          <p:nvPr/>
        </p:nvSpPr>
        <p:spPr>
          <a:xfrm>
            <a:off x="4404665" y="5806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A6A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 FOLLOWERS</a:t>
            </a:r>
            <a:endParaRPr lang="en-US" sz="1050" dirty="0"/>
          </a:p>
        </p:txBody>
      </p:sp>
      <p:sp>
        <p:nvSpPr>
          <p:cNvPr id="41" name="Shape 23"/>
          <p:cNvSpPr/>
          <p:nvPr/>
        </p:nvSpPr>
        <p:spPr>
          <a:xfrm>
            <a:off x="5483657" y="613562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42" name="Image 16" descr="/tmp/claude-0/-home-user-dasdsjfoisdjfoisj-github-io/f756b5b4-9ba5-5f42-afc2-0aa030ec1623/scratchpad/asdeck/assets/ic-x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52237" y="6204204"/>
            <a:ext cx="173736" cy="173736"/>
          </a:xfrm>
          <a:prstGeom prst="rect">
            <a:avLst/>
          </a:prstGeom>
        </p:spPr>
      </p:pic>
      <p:sp>
        <p:nvSpPr>
          <p:cNvPr id="43" name="Shape 24"/>
          <p:cNvSpPr/>
          <p:nvPr/>
        </p:nvSpPr>
        <p:spPr>
          <a:xfrm>
            <a:off x="5940857" y="613562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44" name="Image 17" descr="/tmp/claude-0/-home-user-dasdsjfoisdjfoisj-github-io/f756b5b4-9ba5-5f42-afc2-0aa030ec1623/scratchpad/asdeck/assets/ic-tiktok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09437" y="6204204"/>
            <a:ext cx="173736" cy="173736"/>
          </a:xfrm>
          <a:prstGeom prst="rect">
            <a:avLst/>
          </a:prstGeom>
        </p:spPr>
      </p:pic>
      <p:sp>
        <p:nvSpPr>
          <p:cNvPr id="45" name="Shape 25"/>
          <p:cNvSpPr/>
          <p:nvPr/>
        </p:nvSpPr>
        <p:spPr>
          <a:xfrm>
            <a:off x="6398057" y="613562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46" name="Image 18" descr="/tmp/claude-0/-home-user-dasdsjfoisdjfoisj-github-io/f756b5b4-9ba5-5f42-afc2-0aa030ec1623/scratchpad/asdeck/assets/ic-instagram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66637" y="6204204"/>
            <a:ext cx="173736" cy="173736"/>
          </a:xfrm>
          <a:prstGeom prst="rect">
            <a:avLst/>
          </a:prstGeom>
        </p:spPr>
      </p:pic>
      <p:pic>
        <p:nvPicPr>
          <p:cNvPr id="47" name="Image 19" descr="/tmp/claude-0/-home-user-dasdsjfoisdjfoisj-github-io/f756b5b4-9ba5-5f42-afc2-0aa030ec1623/scratchpad/asdeck/assets/av-chlo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29116" y="4114800"/>
            <a:ext cx="1234440" cy="1234440"/>
          </a:xfrm>
          <a:prstGeom prst="rect">
            <a:avLst/>
          </a:prstGeom>
        </p:spPr>
      </p:pic>
      <p:sp>
        <p:nvSpPr>
          <p:cNvPr id="48" name="Text 26"/>
          <p:cNvSpPr/>
          <p:nvPr/>
        </p:nvSpPr>
        <p:spPr>
          <a:xfrm>
            <a:off x="7854696" y="54223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CHLOE AMOUR</a:t>
            </a:r>
            <a:endParaRPr lang="en-US" sz="1500" dirty="0"/>
          </a:p>
        </p:txBody>
      </p:sp>
      <p:sp>
        <p:nvSpPr>
          <p:cNvPr id="49" name="Text 27"/>
          <p:cNvSpPr/>
          <p:nvPr/>
        </p:nvSpPr>
        <p:spPr>
          <a:xfrm>
            <a:off x="7854696" y="5806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A6A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2.4M FOLLOWERS</a:t>
            </a:r>
            <a:endParaRPr lang="en-US" sz="1050" dirty="0"/>
          </a:p>
        </p:txBody>
      </p:sp>
      <p:sp>
        <p:nvSpPr>
          <p:cNvPr id="50" name="Shape 28"/>
          <p:cNvSpPr/>
          <p:nvPr/>
        </p:nvSpPr>
        <p:spPr>
          <a:xfrm>
            <a:off x="8933688" y="613562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51" name="Image 20" descr="/tmp/claude-0/-home-user-dasdsjfoisdjfoisj-github-io/f756b5b4-9ba5-5f42-afc2-0aa030ec1623/scratchpad/asdeck/assets/ic-x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002268" y="6204204"/>
            <a:ext cx="173736" cy="173736"/>
          </a:xfrm>
          <a:prstGeom prst="rect">
            <a:avLst/>
          </a:prstGeom>
        </p:spPr>
      </p:pic>
      <p:sp>
        <p:nvSpPr>
          <p:cNvPr id="52" name="Shape 29"/>
          <p:cNvSpPr/>
          <p:nvPr/>
        </p:nvSpPr>
        <p:spPr>
          <a:xfrm>
            <a:off x="9390888" y="613562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53" name="Image 21" descr="/tmp/claude-0/-home-user-dasdsjfoisdjfoisj-github-io/f756b5b4-9ba5-5f42-afc2-0aa030ec1623/scratchpad/asdeck/assets/ic-tiktok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59468" y="6204204"/>
            <a:ext cx="173736" cy="173736"/>
          </a:xfrm>
          <a:prstGeom prst="rect">
            <a:avLst/>
          </a:prstGeom>
        </p:spPr>
      </p:pic>
      <p:sp>
        <p:nvSpPr>
          <p:cNvPr id="54" name="Shape 30"/>
          <p:cNvSpPr/>
          <p:nvPr/>
        </p:nvSpPr>
        <p:spPr>
          <a:xfrm>
            <a:off x="9848088" y="6135624"/>
            <a:ext cx="310896" cy="310896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55" name="Image 22" descr="/tmp/claude-0/-home-user-dasdsjfoisdjfoisj-github-io/f756b5b4-9ba5-5f42-afc2-0aa030ec1623/scratchpad/asdeck/assets/ic-instagram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16668" y="6204204"/>
            <a:ext cx="173736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Услуги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95148" y="1828800"/>
            <a:ext cx="3520440" cy="2834640"/>
          </a:xfrm>
          <a:prstGeom prst="roundRect">
            <a:avLst>
              <a:gd name="adj" fmla="val 4516"/>
            </a:avLst>
          </a:prstGeom>
          <a:solidFill>
            <a:srgbClr val="111114"/>
          </a:solidFill>
          <a:ln w="12700">
            <a:solidFill>
              <a:srgbClr val="FF149A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16200000">
              <a:srgbClr val="FF009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15188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15188" y="27889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OnlyFans Coverage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5188" y="356616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2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Круглосуточное ведение OnlyFans: чаттинг, продажи, удержание и апселлы. Персональный менеджер у каждого автора.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5628" y="1828800"/>
            <a:ext cx="3520440" cy="2834640"/>
          </a:xfrm>
          <a:prstGeom prst="roundRect">
            <a:avLst>
              <a:gd name="adj" fmla="val 4516"/>
            </a:avLst>
          </a:prstGeom>
          <a:solidFill>
            <a:srgbClr val="111114"/>
          </a:solidFill>
          <a:ln w="12700">
            <a:solidFill>
              <a:srgbClr val="FF149A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16200000">
              <a:srgbClr val="FF009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55668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55668" y="27889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Management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55668" y="356616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2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Ведение и оптимизация Instagram, TikTok и X: контент-план, трафик и рост аудитории.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76108" y="1828800"/>
            <a:ext cx="3520440" cy="2834640"/>
          </a:xfrm>
          <a:prstGeom prst="roundRect">
            <a:avLst>
              <a:gd name="adj" fmla="val 4516"/>
            </a:avLst>
          </a:prstGeom>
          <a:solidFill>
            <a:srgbClr val="111114"/>
          </a:solidFill>
          <a:ln w="12700">
            <a:solidFill>
              <a:srgbClr val="FF149A">
                <a:alpha val="45000"/>
              </a:srgbClr>
            </a:solidFill>
            <a:prstDash val="solid"/>
          </a:ln>
          <a:effectLst>
            <a:outerShdw sx="100000" sy="100000" kx="0" ky="0" algn="bl" rotWithShape="0" blurRad="177800" dist="50800" dir="16200000">
              <a:srgbClr val="FF009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96148" y="2103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496148" y="27889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Houses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96148" y="356616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C2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Съёмки и продакшн в контент-хаусах: идеи, контроль качества и стабильный поток контента.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5148" y="4983480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17171B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1180" y="5202936"/>
            <a:ext cx="237744" cy="237744"/>
          </a:xfrm>
          <a:prstGeom prst="ellipse">
            <a:avLst/>
          </a:prstGeom>
          <a:solidFill>
            <a:srgbClr val="FF149A"/>
          </a:solidFill>
          <a:ln/>
        </p:spPr>
      </p:sp>
      <p:sp>
        <p:nvSpPr>
          <p:cNvPr id="18" name="Text 16"/>
          <p:cNvSpPr/>
          <p:nvPr/>
        </p:nvSpPr>
        <p:spPr>
          <a:xfrm>
            <a:off x="1153516" y="49834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Chatting &amp; Sales / Чаттинг и продажи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35628" y="4983480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17171B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1660" y="5202936"/>
            <a:ext cx="237744" cy="237744"/>
          </a:xfrm>
          <a:prstGeom prst="ellipse">
            <a:avLst/>
          </a:prstGeom>
          <a:solidFill>
            <a:srgbClr val="FF149A"/>
          </a:solidFill>
          <a:ln/>
        </p:spPr>
      </p:sp>
      <p:sp>
        <p:nvSpPr>
          <p:cNvPr id="21" name="Text 19"/>
          <p:cNvSpPr/>
          <p:nvPr/>
        </p:nvSpPr>
        <p:spPr>
          <a:xfrm>
            <a:off x="4993996" y="49834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Planning / Контент-план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76108" y="4983480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17171B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32140" y="5202936"/>
            <a:ext cx="237744" cy="237744"/>
          </a:xfrm>
          <a:prstGeom prst="ellipse">
            <a:avLst/>
          </a:prstGeom>
          <a:solidFill>
            <a:srgbClr val="FF149A"/>
          </a:solidFill>
          <a:ln/>
        </p:spPr>
      </p:sp>
      <p:sp>
        <p:nvSpPr>
          <p:cNvPr id="24" name="Text 22"/>
          <p:cNvSpPr/>
          <p:nvPr/>
        </p:nvSpPr>
        <p:spPr>
          <a:xfrm>
            <a:off x="8834476" y="49834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E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Growth / Аналитика и рост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Цифры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4000" y="1920240"/>
            <a:ext cx="2615184" cy="2148840"/>
          </a:xfrm>
          <a:prstGeom prst="roundRect">
            <a:avLst>
              <a:gd name="adj" fmla="val 5957"/>
            </a:avLst>
          </a:prstGeom>
          <a:solidFill>
            <a:srgbClr val="111114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4000" y="224028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3EA5"/>
                </a:solidFill>
                <a:effectLst>
                  <a:glow rad="101600">
                    <a:srgbClr val="FF0090">
                      <a:alpha val="5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33M+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4000" y="324612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audience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4000" y="356616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6A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Суммарная аудитория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43504" y="1920240"/>
            <a:ext cx="2615184" cy="2148840"/>
          </a:xfrm>
          <a:prstGeom prst="roundRect">
            <a:avLst>
              <a:gd name="adj" fmla="val 5957"/>
            </a:avLst>
          </a:prstGeom>
          <a:solidFill>
            <a:srgbClr val="111114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43504" y="224028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3EA5"/>
                </a:solidFill>
                <a:effectLst>
                  <a:glow rad="101600">
                    <a:srgbClr val="FF0090">
                      <a:alpha val="5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43504" y="324612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creators featured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43504" y="356616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6A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Топ-авторов в подборке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3008" y="1920240"/>
            <a:ext cx="2615184" cy="2148840"/>
          </a:xfrm>
          <a:prstGeom prst="roundRect">
            <a:avLst>
              <a:gd name="adj" fmla="val 5957"/>
            </a:avLst>
          </a:prstGeom>
          <a:solidFill>
            <a:srgbClr val="111114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3008" y="224028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3EA5"/>
                </a:solidFill>
                <a:effectLst>
                  <a:glow rad="101600">
                    <a:srgbClr val="FF0090">
                      <a:alpha val="5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33008" y="324612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experience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33008" y="356616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6A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Года опыта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22512" y="1920240"/>
            <a:ext cx="2615184" cy="2148840"/>
          </a:xfrm>
          <a:prstGeom prst="roundRect">
            <a:avLst>
              <a:gd name="adj" fmla="val 5957"/>
            </a:avLst>
          </a:prstGeom>
          <a:solidFill>
            <a:srgbClr val="111114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22512" y="224028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3EA5"/>
                </a:solidFill>
                <a:effectLst>
                  <a:glow rad="101600">
                    <a:srgbClr val="FF0090">
                      <a:alpha val="50000"/>
                    </a:srgbClr>
                  </a:glo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122512" y="324612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support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22512" y="3566160"/>
            <a:ext cx="2615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6A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 без выходных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4000" y="4572000"/>
            <a:ext cx="11283696" cy="1234440"/>
          </a:xfrm>
          <a:prstGeom prst="roundRect">
            <a:avLst>
              <a:gd name="adj" fmla="val 8889"/>
            </a:avLst>
          </a:prstGeom>
          <a:solidFill>
            <a:srgbClr val="111114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1200" y="4754880"/>
            <a:ext cx="10369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“Within 3 months my subscriber count doubled, and my monthly income tripled.”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1200" y="5303520"/>
            <a:ext cx="10369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 3 месяца подписчики удвоились, а доход вырос втрое.» — отзыв автора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мы работаем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4000" y="201168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111114"/>
          </a:solidFill>
          <a:ln w="12700">
            <a:solidFill>
              <a:srgbClr val="FF149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4040" y="2331720"/>
            <a:ext cx="822960" cy="822960"/>
          </a:xfrm>
          <a:prstGeom prst="ellipse">
            <a:avLst/>
          </a:prstGeom>
          <a:solidFill>
            <a:srgbClr val="C8006A"/>
          </a:solidFill>
          <a:ln w="15875">
            <a:solidFill>
              <a:srgbClr val="FF3EA5"/>
            </a:solidFill>
            <a:prstDash val="solid"/>
          </a:ln>
          <a:effectLst>
            <a:outerShdw sx="100000" sy="100000" kx="0" ky="0" algn="bl" rotWithShape="0" blurRad="177800" dist="50800" dir="16200000">
              <a:srgbClr val="FF009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4040" y="239572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4040" y="333756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4040" y="3703320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Знакомство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4040" y="4114800"/>
            <a:ext cx="19751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Изучаем автора, бренд и цели. Закрепляем персонального менеджера.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50896" y="324612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43504" y="201168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111114"/>
          </a:solidFill>
          <a:ln w="12700">
            <a:solidFill>
              <a:srgbClr val="FF149A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63544" y="2331720"/>
            <a:ext cx="822960" cy="822960"/>
          </a:xfrm>
          <a:prstGeom prst="ellipse">
            <a:avLst/>
          </a:prstGeom>
          <a:solidFill>
            <a:srgbClr val="C8006A"/>
          </a:solidFill>
          <a:ln w="15875">
            <a:solidFill>
              <a:srgbClr val="FF3EA5"/>
            </a:solidFill>
            <a:prstDash val="solid"/>
          </a:ln>
          <a:effectLst>
            <a:outerShdw sx="100000" sy="100000" kx="0" ky="0" algn="bl" rotWithShape="0" blurRad="177800" dist="50800" dir="16200000">
              <a:srgbClr val="FF009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63544" y="239572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63544" y="333756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63544" y="3703320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63544" y="4114800"/>
            <a:ext cx="19751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Строим индивидуальный план роста и монетизации.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0400" y="324612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33008" y="201168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111114"/>
          </a:solidFill>
          <a:ln w="12700">
            <a:solidFill>
              <a:srgbClr val="FF149A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3048" y="2331720"/>
            <a:ext cx="822960" cy="822960"/>
          </a:xfrm>
          <a:prstGeom prst="ellipse">
            <a:avLst/>
          </a:prstGeom>
          <a:solidFill>
            <a:srgbClr val="C8006A"/>
          </a:solidFill>
          <a:ln w="15875">
            <a:solidFill>
              <a:srgbClr val="FF3EA5"/>
            </a:solidFill>
            <a:prstDash val="solid"/>
          </a:ln>
          <a:effectLst>
            <a:outerShdw sx="100000" sy="100000" kx="0" ky="0" algn="bl" rotWithShape="0" blurRad="177800" dist="50800" dir="16200000">
              <a:srgbClr val="FF0090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53048" y="239572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553048" y="333756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Social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53048" y="3703320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 и соцсети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53048" y="4114800"/>
            <a:ext cx="19751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Контент-план, съёмки, ведение Instagram, TikTok и X.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29904" y="3246120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122512" y="201168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111114"/>
          </a:solidFill>
          <a:ln w="12700">
            <a:solidFill>
              <a:srgbClr val="FF149A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42552" y="2331720"/>
            <a:ext cx="822960" cy="822960"/>
          </a:xfrm>
          <a:prstGeom prst="ellipse">
            <a:avLst/>
          </a:prstGeom>
          <a:solidFill>
            <a:srgbClr val="C8006A"/>
          </a:solidFill>
          <a:ln w="15875">
            <a:solidFill>
              <a:srgbClr val="FF3EA5"/>
            </a:solidFill>
            <a:prstDash val="solid"/>
          </a:ln>
          <a:effectLst>
            <a:outerShdw sx="100000" sy="100000" kx="0" ky="0" algn="bl" rotWithShape="0" blurRad="177800" dist="50800" dir="16200000">
              <a:srgbClr val="FF0090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442552" y="2395728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442552" y="3337560"/>
            <a:ext cx="1975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&amp; Retention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42552" y="3703320"/>
            <a:ext cx="1975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и удержание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442552" y="4114800"/>
            <a:ext cx="19751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Чаттинг, продажи, апселлы, аналитика и масштабирование.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AS TALENT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мы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95148" y="19202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11114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9468" y="2212848"/>
            <a:ext cx="365760" cy="365760"/>
          </a:xfrm>
          <a:prstGeom prst="ellipse">
            <a:avLst/>
          </a:prstGeom>
          <a:solidFill>
            <a:srgbClr val="FF149A"/>
          </a:solidFill>
          <a:ln w="12700">
            <a:solidFill>
              <a:srgbClr val="FF3EA5"/>
            </a:solidFill>
            <a:prstDash val="solid"/>
          </a:ln>
          <a:effectLst>
            <a:outerShdw sx="100000" sy="100000" kx="0" ky="0" algn="bl" rotWithShape="0" blurRad="177800" dist="50800" dir="16200000">
              <a:srgbClr val="FF009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9468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18108" y="21762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manager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18108" y="25603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C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Персональный менеджер и обучение для каждого клиента.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5628" y="19202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11114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9948" y="2212848"/>
            <a:ext cx="365760" cy="365760"/>
          </a:xfrm>
          <a:prstGeom prst="ellipse">
            <a:avLst/>
          </a:prstGeom>
          <a:solidFill>
            <a:srgbClr val="FF149A"/>
          </a:solidFill>
          <a:ln w="12700">
            <a:solidFill>
              <a:srgbClr val="FF3EA5"/>
            </a:solidFill>
            <a:prstDash val="solid"/>
          </a:ln>
          <a:effectLst>
            <a:outerShdw sx="100000" sy="100000" kx="0" ky="0" algn="bl" rotWithShape="0" blurRad="177800" dist="50800" dir="16200000">
              <a:srgbClr val="FF009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9948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58588" y="21762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support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58588" y="25603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C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поддержки на связи круглосуточно.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76108" y="192024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11114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0428" y="2212848"/>
            <a:ext cx="365760" cy="365760"/>
          </a:xfrm>
          <a:prstGeom prst="ellipse">
            <a:avLst/>
          </a:prstGeom>
          <a:solidFill>
            <a:srgbClr val="FF149A"/>
          </a:solidFill>
          <a:ln w="12700">
            <a:solidFill>
              <a:srgbClr val="FF3EA5"/>
            </a:solidFill>
            <a:prstDash val="solid"/>
          </a:ln>
          <a:effectLst>
            <a:outerShdw sx="100000" sy="100000" kx="0" ky="0" algn="bl" rotWithShape="0" blurRad="177800" dist="50800" dir="16200000">
              <a:srgbClr val="FF009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50428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99068" y="21762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99068" y="25603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C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 на основе аналитики и метрик эффективности.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5148" y="36118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11114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9468" y="3904488"/>
            <a:ext cx="365760" cy="365760"/>
          </a:xfrm>
          <a:prstGeom prst="ellipse">
            <a:avLst/>
          </a:prstGeom>
          <a:solidFill>
            <a:srgbClr val="FF149A"/>
          </a:solidFill>
          <a:ln w="12700">
            <a:solidFill>
              <a:srgbClr val="FF3EA5"/>
            </a:solidFill>
            <a:prstDash val="solid"/>
          </a:ln>
          <a:effectLst>
            <a:outerShdw sx="100000" sy="100000" kx="0" ky="0" algn="bl" rotWithShape="0" blurRad="177800" dist="50800" dir="16200000">
              <a:srgbClr val="FF009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9468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18108" y="38679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freedom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18108" y="4251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C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создаёте контент — мы берём на себя бизнес.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35628" y="36118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11114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09948" y="3904488"/>
            <a:ext cx="365760" cy="365760"/>
          </a:xfrm>
          <a:prstGeom prst="ellipse">
            <a:avLst/>
          </a:prstGeom>
          <a:solidFill>
            <a:srgbClr val="FF149A"/>
          </a:solidFill>
          <a:ln w="12700">
            <a:solidFill>
              <a:srgbClr val="FF3EA5"/>
            </a:solidFill>
            <a:prstDash val="solid"/>
          </a:ln>
          <a:effectLst>
            <a:outerShdw sx="100000" sy="100000" kx="0" ky="0" algn="bl" rotWithShape="0" blurRad="177800" dist="50800" dir="16200000">
              <a:srgbClr val="FF009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09948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58588" y="38679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levels welcome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58588" y="4251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C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Работаем с авторами любого уровня — от старта до топа.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76108" y="3611880"/>
            <a:ext cx="3520440" cy="1417320"/>
          </a:xfrm>
          <a:prstGeom prst="roundRect">
            <a:avLst>
              <a:gd name="adj" fmla="val 7742"/>
            </a:avLst>
          </a:prstGeom>
          <a:solidFill>
            <a:srgbClr val="111114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50428" y="3904488"/>
            <a:ext cx="365760" cy="365760"/>
          </a:xfrm>
          <a:prstGeom prst="ellipse">
            <a:avLst/>
          </a:prstGeom>
          <a:solidFill>
            <a:srgbClr val="FF149A"/>
          </a:solidFill>
          <a:ln w="12700">
            <a:solidFill>
              <a:srgbClr val="FF3EA5"/>
            </a:solidFill>
            <a:prstDash val="solid"/>
          </a:ln>
          <a:effectLst>
            <a:outerShdw sx="100000" sy="100000" kx="0" ky="0" algn="bl" rotWithShape="0" blurRad="177800" dist="50800" dir="16200000">
              <a:srgbClr val="FF0090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450428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99068" y="38679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reach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999068" y="42519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C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и блогеры по всему миру, мужчины и женщины.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  /  ДАВАЙТЕ РАБОТАТЬ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21031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 your true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Присоединяйся к AS Talent Agency — и раскрой свой потенциал вместе с нами.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111114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709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astalentagency.com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69080" y="470916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111114"/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47091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@astalentagency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Talent Agency</dc:title>
  <dc:subject>PptxGenJS Presentation</dc:subject>
  <dc:creator>AS Talent Agency</dc:creator>
  <cp:lastModifiedBy>AS Talent Agency</cp:lastModifiedBy>
  <cp:revision>1</cp:revision>
  <dcterms:created xsi:type="dcterms:W3CDTF">2026-08-13T21:30:38Z</dcterms:created>
  <dcterms:modified xsi:type="dcterms:W3CDTF">2026-08-13T21:30:38Z</dcterms:modified>
</cp:coreProperties>
</file>