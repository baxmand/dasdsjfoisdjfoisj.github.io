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Обложка. AS Talent Agency — агентство полного цикла: таланты, соцсети, OnlyFans, поддержка 24/7.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Кто мы: агентство полного цикла, 3+ года, индивидуальный подход, таланты по всему миру.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Наши топ-авторы и их суммарный охват. Присутствие на X, TikTok и Instagram.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Три ключевые услуги + поддерживающие: чаттинг, контент-план, аналитика.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Ключевые цифры и социальное доказательство.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Процесс из 4 шагов: онбординг, стратегия, контент и соцсети, рост и удержание.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Преимущества AS Talent: персональный менеджер, 24/7, аналитика, свобода творчества, любой уровень, глобальный охват.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Контакты и призыв к действию. Сайт: astalentagency.com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3.png"/><Relationship Id="rId8" Type="http://schemas.openxmlformats.org/officeDocument/2006/relationships/image" Target="../media/image-3-4.png"/><Relationship Id="rId9" Type="http://schemas.openxmlformats.org/officeDocument/2006/relationships/image" Target="../media/image-3-5.png"/><Relationship Id="rId10" Type="http://schemas.openxmlformats.org/officeDocument/2006/relationships/image" Target="../media/image-3-10.png"/><Relationship Id="rId11" Type="http://schemas.openxmlformats.org/officeDocument/2006/relationships/image" Target="../media/image-3-4.png"/><Relationship Id="rId12" Type="http://schemas.openxmlformats.org/officeDocument/2006/relationships/image" Target="../media/image-3-5.png"/><Relationship Id="rId13" Type="http://schemas.openxmlformats.org/officeDocument/2006/relationships/image" Target="../media/image-3-13.png"/><Relationship Id="rId14" Type="http://schemas.openxmlformats.org/officeDocument/2006/relationships/image" Target="../media/image-3-3.png"/><Relationship Id="rId15" Type="http://schemas.openxmlformats.org/officeDocument/2006/relationships/image" Target="../media/image-3-4.png"/><Relationship Id="rId16" Type="http://schemas.openxmlformats.org/officeDocument/2006/relationships/image" Target="../media/image-3-5.png"/><Relationship Id="rId17" Type="http://schemas.openxmlformats.org/officeDocument/2006/relationships/image" Target="../media/image-3-17.png"/><Relationship Id="rId18" Type="http://schemas.openxmlformats.org/officeDocument/2006/relationships/image" Target="../media/image-3-3.png"/><Relationship Id="rId19" Type="http://schemas.openxmlformats.org/officeDocument/2006/relationships/image" Target="../media/image-3-4.png"/><Relationship Id="rId20" Type="http://schemas.openxmlformats.org/officeDocument/2006/relationships/image" Target="../media/image-3-5.png"/><Relationship Id="rId21" Type="http://schemas.openxmlformats.org/officeDocument/2006/relationships/image" Target="../media/image-3-21.png"/><Relationship Id="rId22" Type="http://schemas.openxmlformats.org/officeDocument/2006/relationships/image" Target="../media/image-3-3.png"/><Relationship Id="rId23" Type="http://schemas.openxmlformats.org/officeDocument/2006/relationships/image" Target="../media/image-3-4.png"/><Relationship Id="rId24" Type="http://schemas.openxmlformats.org/officeDocument/2006/relationships/image" Target="../media/image-3-5.png"/><Relationship Id="rId25" Type="http://schemas.openxmlformats.org/officeDocument/2006/relationships/image" Target="../media/image-3-25.png"/><Relationship Id="rId26" Type="http://schemas.openxmlformats.org/officeDocument/2006/relationships/image" Target="../media/image-3-3.png"/><Relationship Id="rId27" Type="http://schemas.openxmlformats.org/officeDocument/2006/relationships/image" Target="../media/image-3-4.png"/><Relationship Id="rId28" Type="http://schemas.openxmlformats.org/officeDocument/2006/relationships/image" Target="../media/image-3-5.png"/><Relationship Id="rId29" Type="http://schemas.openxmlformats.org/officeDocument/2006/relationships/image" Target="../media/image-3-29.png"/><Relationship Id="rId30" Type="http://schemas.openxmlformats.org/officeDocument/2006/relationships/image" Target="../media/image-3-3.png"/><Relationship Id="rId31" Type="http://schemas.openxmlformats.org/officeDocument/2006/relationships/image" Target="../media/image-3-4.png"/><Relationship Id="rId32" Type="http://schemas.openxmlformats.org/officeDocument/2006/relationships/image" Target="../media/image-3-5.png"/><Relationship Id="rId33" Type="http://schemas.openxmlformats.org/officeDocument/2006/relationships/slideLayout" Target="../slideLayouts/slideLayout1.xml"/><Relationship Id="rId3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2344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FF3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TALENT  ·  SOCIAL MEDIA  ·  ONLYFANS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77240" y="1600200"/>
            <a:ext cx="86868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6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Talent Agency</a:t>
            </a:r>
            <a:endParaRPr lang="en-US" sz="6600" dirty="0"/>
          </a:p>
        </p:txBody>
      </p:sp>
      <p:sp>
        <p:nvSpPr>
          <p:cNvPr id="4" name="Text 2"/>
          <p:cNvSpPr/>
          <p:nvPr/>
        </p:nvSpPr>
        <p:spPr>
          <a:xfrm>
            <a:off x="822960" y="288036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3EA5"/>
                </a:solidFill>
                <a:effectLst>
                  <a:glow rad="101600">
                    <a:srgbClr val="FF0090">
                      <a:alpha val="50000"/>
                    </a:srgbClr>
                  </a:glow>
                </a:effectLst>
                <a:latin typeface="Arial" pitchFamily="34" charset="0"/>
                <a:ea typeface="Arial" pitchFamily="34" charset="-122"/>
                <a:cs typeface="Arial" pitchFamily="34" charset="-120"/>
              </a:rPr>
              <a:t>AS Superpowers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822960" y="365760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700" dirty="0">
                <a:solidFill>
                  <a:srgbClr val="D8D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Управление талантами, соцсетями и OnlyFans — 24/7.</a:t>
            </a:r>
            <a:endParaRPr lang="en-US" sz="17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700" dirty="0">
                <a:solidFill>
                  <a:srgbClr val="D8D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Helping creators unlock their true potential.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822960" y="612648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astalentagency.com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FF3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WE ARE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21792" y="77724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Кто мы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640080" y="1783080"/>
            <a:ext cx="58521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50" dirty="0">
                <a:solidFill>
                  <a:srgbClr val="D2D2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Talent — ведущее агентство по маркетингу и менеджменту OnlyFans. Более 3 лет мы помогаем авторам раскрыть потенциал и кратно увеличить доход. Мы берём на себя весь бизнес — от стратегии и соцсетей до общения с фанатами — а автор фокусируется на контенте.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640080" y="3538728"/>
            <a:ext cx="310896" cy="310896"/>
          </a:xfrm>
          <a:prstGeom prst="ellipse">
            <a:avLst/>
          </a:prstGeom>
          <a:solidFill>
            <a:srgbClr val="FF149A"/>
          </a:solidFill>
          <a:ln w="12700">
            <a:solidFill>
              <a:srgbClr val="FF3EA5"/>
            </a:solidFill>
            <a:prstDash val="solid"/>
          </a:ln>
          <a:effectLst>
            <a:outerShdw sx="100000" sy="100000" kx="0" ky="0" algn="bl" rotWithShape="0" blurRad="177800" dist="50800" dir="16200000">
              <a:srgbClr val="FF0090">
                <a:alpha val="5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097280" y="3392424"/>
            <a:ext cx="53949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3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Personalized strategy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97280" y="3703320"/>
            <a:ext cx="5394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2C2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Индивидуальная стратегия под каждого автора — «no two creators are alike».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40080" y="4453128"/>
            <a:ext cx="310896" cy="310896"/>
          </a:xfrm>
          <a:prstGeom prst="ellipse">
            <a:avLst/>
          </a:prstGeom>
          <a:solidFill>
            <a:srgbClr val="FF149A"/>
          </a:solidFill>
          <a:ln w="12700">
            <a:solidFill>
              <a:srgbClr val="FF3EA5"/>
            </a:solidFill>
            <a:prstDash val="solid"/>
          </a:ln>
          <a:effectLst>
            <a:outerShdw sx="100000" sy="100000" kx="0" ky="0" algn="bl" rotWithShape="0" blurRad="177800" dist="50800" dir="16200000">
              <a:srgbClr val="FF0090">
                <a:alpha val="5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1097280" y="4306824"/>
            <a:ext cx="53949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3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Full-cycle management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097280" y="4617720"/>
            <a:ext cx="5394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2C2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Управление под ключ: контент, соцсети, чаттинг, аналитика.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40080" y="5367528"/>
            <a:ext cx="310896" cy="310896"/>
          </a:xfrm>
          <a:prstGeom prst="ellipse">
            <a:avLst/>
          </a:prstGeom>
          <a:solidFill>
            <a:srgbClr val="FF149A"/>
          </a:solidFill>
          <a:ln w="12700">
            <a:solidFill>
              <a:srgbClr val="FF3EA5"/>
            </a:solidFill>
            <a:prstDash val="solid"/>
          </a:ln>
          <a:effectLst>
            <a:outerShdw sx="100000" sy="100000" kx="0" ky="0" algn="bl" rotWithShape="0" blurRad="177800" dist="50800" dir="16200000">
              <a:srgbClr val="FF0090">
                <a:alpha val="5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1097280" y="5221224"/>
            <a:ext cx="53949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3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Global roster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097280" y="5532120"/>
            <a:ext cx="5394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2C2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Работаем с топ-моделями и блогерами по всему миру.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7040880" y="1783080"/>
            <a:ext cx="4526280" cy="4206240"/>
          </a:xfrm>
          <a:prstGeom prst="roundRect">
            <a:avLst>
              <a:gd name="adj" fmla="val 2609"/>
            </a:avLst>
          </a:prstGeom>
          <a:solidFill>
            <a:srgbClr val="111114"/>
          </a:solidFill>
          <a:ln w="9525">
            <a:solidFill>
              <a:srgbClr val="FFFFFF">
                <a:alpha val="18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60920" y="2148840"/>
            <a:ext cx="39319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“No two creators</a:t>
            </a:r>
            <a:endParaRPr lang="en-US" sz="27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are alike.”</a:t>
            </a:r>
            <a:endParaRPr lang="en-US" sz="2700" dirty="0"/>
          </a:p>
        </p:txBody>
      </p:sp>
      <p:sp>
        <p:nvSpPr>
          <p:cNvPr id="16" name="Text 14"/>
          <p:cNvSpPr/>
          <p:nvPr/>
        </p:nvSpPr>
        <p:spPr>
          <a:xfrm>
            <a:off x="7360920" y="3429000"/>
            <a:ext cx="39319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BEBE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Мы не используем шаблонные решения — стратегия строится под бренд и цели каждого автора.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7360920" y="4526280"/>
            <a:ext cx="3886200" cy="0"/>
          </a:xfrm>
          <a:prstGeom prst="line">
            <a:avLst/>
          </a:prstGeom>
          <a:noFill/>
          <a:ln w="9525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60920" y="4709160"/>
            <a:ext cx="39319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i="1" dirty="0">
                <a:solidFill>
                  <a:srgbClr val="FF3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«За 3 месяца количество подписчиков удвоилось, а доход вырос втрое.»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360920" y="553212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6A6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отзыв автора / creator testimonial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FF3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TALENT  /  НАШИ ТАЛАНТЫ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21792" y="68580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effectLst>
                  <a:glow rad="101600">
                    <a:srgbClr val="FF0090">
                      <a:alpha val="50000"/>
                    </a:srgbClr>
                  </a:glow>
                </a:effectLst>
                <a:latin typeface="Arial" pitchFamily="34" charset="0"/>
                <a:ea typeface="Arial" pitchFamily="34" charset="-122"/>
                <a:cs typeface="Arial" pitchFamily="34" charset="-120"/>
              </a:rPr>
              <a:t>AS Superpowers</a:t>
            </a:r>
            <a:endParaRPr lang="en-US" sz="3800" dirty="0"/>
          </a:p>
        </p:txBody>
      </p:sp>
      <p:pic>
        <p:nvPicPr>
          <p:cNvPr id="4" name="Image 0" descr="/tmp/claude-0/-home-user-dasdsjfoisdjfoisj-github-io/f756b5b4-9ba5-5f42-afc2-0aa030ec1623/scratchpad/asdeck/assets/av-elizabet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5402" y="1417320"/>
            <a:ext cx="1051560" cy="10515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22960" y="2514600"/>
            <a:ext cx="2636444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F3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ELIZABETH ANOKHINA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822960" y="3017520"/>
            <a:ext cx="263644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spc="100" kern="0" dirty="0">
                <a:solidFill>
                  <a:srgbClr val="A6A6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45M FOLLOWERS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1601686" y="3337560"/>
            <a:ext cx="274320" cy="274320"/>
          </a:xfrm>
          <a:prstGeom prst="ellipse">
            <a:avLst/>
          </a:prstGeom>
          <a:solidFill>
            <a:srgbClr val="F2F2F2"/>
          </a:solidFill>
          <a:ln/>
        </p:spPr>
      </p:sp>
      <p:pic>
        <p:nvPicPr>
          <p:cNvPr id="8" name="Image 1" descr="/tmp/claude-0/-home-user-dasdsjfoisdjfoisj-github-io/f756b5b4-9ba5-5f42-afc2-0aa030ec1623/scratchpad/asdeck/assets/ic-x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61122" y="3396996"/>
            <a:ext cx="155448" cy="155448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2004022" y="3337560"/>
            <a:ext cx="274320" cy="274320"/>
          </a:xfrm>
          <a:prstGeom prst="ellipse">
            <a:avLst/>
          </a:prstGeom>
          <a:solidFill>
            <a:srgbClr val="F2F2F2"/>
          </a:solidFill>
          <a:ln/>
        </p:spPr>
      </p:sp>
      <p:pic>
        <p:nvPicPr>
          <p:cNvPr id="10" name="Image 2" descr="/tmp/claude-0/-home-user-dasdsjfoisdjfoisj-github-io/f756b5b4-9ba5-5f42-afc2-0aa030ec1623/scratchpad/asdeck/assets/ic-tikto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63458" y="3396996"/>
            <a:ext cx="155448" cy="155448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2406358" y="3337560"/>
            <a:ext cx="274320" cy="274320"/>
          </a:xfrm>
          <a:prstGeom prst="ellipse">
            <a:avLst/>
          </a:prstGeom>
          <a:solidFill>
            <a:srgbClr val="F2F2F2"/>
          </a:solidFill>
          <a:ln/>
        </p:spPr>
      </p:sp>
      <p:pic>
        <p:nvPicPr>
          <p:cNvPr id="12" name="Image 3" descr="/tmp/claude-0/-home-user-dasdsjfoisdjfoisj-github-io/f756b5b4-9ba5-5f42-afc2-0aa030ec1623/scratchpad/asdeck/assets/ic-instagram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65794" y="3396996"/>
            <a:ext cx="155448" cy="155448"/>
          </a:xfrm>
          <a:prstGeom prst="rect">
            <a:avLst/>
          </a:prstGeom>
        </p:spPr>
      </p:pic>
      <p:pic>
        <p:nvPicPr>
          <p:cNvPr id="13" name="Image 4" descr="/tmp/claude-0/-home-user-dasdsjfoisdjfoisj-github-io/f756b5b4-9ba5-5f42-afc2-0aa030ec1623/scratchpad/asdeck/assets/av-eli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51846" y="1417320"/>
            <a:ext cx="1051560" cy="1051560"/>
          </a:xfrm>
          <a:prstGeom prst="rect">
            <a:avLst/>
          </a:prstGeom>
        </p:spPr>
      </p:pic>
      <p:sp>
        <p:nvSpPr>
          <p:cNvPr id="14" name="Text 7"/>
          <p:cNvSpPr/>
          <p:nvPr/>
        </p:nvSpPr>
        <p:spPr>
          <a:xfrm>
            <a:off x="3459404" y="2514600"/>
            <a:ext cx="2636444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F3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ELI VASILENKO</a:t>
            </a:r>
            <a:endParaRPr lang="en-US" sz="1300" dirty="0"/>
          </a:p>
        </p:txBody>
      </p:sp>
      <p:sp>
        <p:nvSpPr>
          <p:cNvPr id="15" name="Text 8"/>
          <p:cNvSpPr/>
          <p:nvPr/>
        </p:nvSpPr>
        <p:spPr>
          <a:xfrm>
            <a:off x="3459404" y="3017520"/>
            <a:ext cx="263644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spc="100" kern="0" dirty="0">
                <a:solidFill>
                  <a:srgbClr val="A6A6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10.5M FOLLOWERS</a:t>
            </a:r>
            <a:endParaRPr lang="en-US" sz="1000" dirty="0"/>
          </a:p>
        </p:txBody>
      </p:sp>
      <p:sp>
        <p:nvSpPr>
          <p:cNvPr id="16" name="Shape 9"/>
          <p:cNvSpPr/>
          <p:nvPr/>
        </p:nvSpPr>
        <p:spPr>
          <a:xfrm>
            <a:off x="4238130" y="3337560"/>
            <a:ext cx="274320" cy="274320"/>
          </a:xfrm>
          <a:prstGeom prst="ellipse">
            <a:avLst/>
          </a:prstGeom>
          <a:solidFill>
            <a:srgbClr val="F2F2F2"/>
          </a:solidFill>
          <a:ln/>
        </p:spPr>
      </p:sp>
      <p:pic>
        <p:nvPicPr>
          <p:cNvPr id="17" name="Image 5" descr="/tmp/claude-0/-home-user-dasdsjfoisdjfoisj-github-io/f756b5b4-9ba5-5f42-afc2-0aa030ec1623/scratchpad/asdeck/assets/ic-x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97566" y="3396996"/>
            <a:ext cx="155448" cy="155448"/>
          </a:xfrm>
          <a:prstGeom prst="rect">
            <a:avLst/>
          </a:prstGeom>
        </p:spPr>
      </p:pic>
      <p:sp>
        <p:nvSpPr>
          <p:cNvPr id="18" name="Shape 10"/>
          <p:cNvSpPr/>
          <p:nvPr/>
        </p:nvSpPr>
        <p:spPr>
          <a:xfrm>
            <a:off x="4640466" y="3337560"/>
            <a:ext cx="274320" cy="274320"/>
          </a:xfrm>
          <a:prstGeom prst="ellipse">
            <a:avLst/>
          </a:prstGeom>
          <a:solidFill>
            <a:srgbClr val="F2F2F2"/>
          </a:solidFill>
          <a:ln/>
        </p:spPr>
      </p:sp>
      <p:pic>
        <p:nvPicPr>
          <p:cNvPr id="19" name="Image 6" descr="/tmp/claude-0/-home-user-dasdsjfoisdjfoisj-github-io/f756b5b4-9ba5-5f42-afc2-0aa030ec1623/scratchpad/asdeck/assets/ic-tiktok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99902" y="3396996"/>
            <a:ext cx="155448" cy="155448"/>
          </a:xfrm>
          <a:prstGeom prst="rect">
            <a:avLst/>
          </a:prstGeom>
        </p:spPr>
      </p:pic>
      <p:sp>
        <p:nvSpPr>
          <p:cNvPr id="20" name="Shape 11"/>
          <p:cNvSpPr/>
          <p:nvPr/>
        </p:nvSpPr>
        <p:spPr>
          <a:xfrm>
            <a:off x="5042802" y="3337560"/>
            <a:ext cx="274320" cy="274320"/>
          </a:xfrm>
          <a:prstGeom prst="ellipse">
            <a:avLst/>
          </a:prstGeom>
          <a:solidFill>
            <a:srgbClr val="F2F2F2"/>
          </a:solidFill>
          <a:ln/>
        </p:spPr>
      </p:sp>
      <p:pic>
        <p:nvPicPr>
          <p:cNvPr id="21" name="Image 7" descr="/tmp/claude-0/-home-user-dasdsjfoisdjfoisj-github-io/f756b5b4-9ba5-5f42-afc2-0aa030ec1623/scratchpad/asdeck/assets/ic-instagram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102238" y="3396996"/>
            <a:ext cx="155448" cy="155448"/>
          </a:xfrm>
          <a:prstGeom prst="rect">
            <a:avLst/>
          </a:prstGeom>
        </p:spPr>
      </p:pic>
      <p:pic>
        <p:nvPicPr>
          <p:cNvPr id="22" name="Image 8" descr="/tmp/claude-0/-home-user-dasdsjfoisdjfoisj-github-io/f756b5b4-9ba5-5f42-afc2-0aa030ec1623/scratchpad/asdeck/assets/av-caprice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888289" y="1417320"/>
            <a:ext cx="1051560" cy="1051560"/>
          </a:xfrm>
          <a:prstGeom prst="rect">
            <a:avLst/>
          </a:prstGeom>
        </p:spPr>
      </p:pic>
      <p:sp>
        <p:nvSpPr>
          <p:cNvPr id="23" name="Text 12"/>
          <p:cNvSpPr/>
          <p:nvPr/>
        </p:nvSpPr>
        <p:spPr>
          <a:xfrm>
            <a:off x="6095848" y="2514600"/>
            <a:ext cx="2636444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F3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LITTLE CAPRICE</a:t>
            </a:r>
            <a:endParaRPr lang="en-US" sz="1300" dirty="0"/>
          </a:p>
        </p:txBody>
      </p:sp>
      <p:sp>
        <p:nvSpPr>
          <p:cNvPr id="24" name="Text 13"/>
          <p:cNvSpPr/>
          <p:nvPr/>
        </p:nvSpPr>
        <p:spPr>
          <a:xfrm>
            <a:off x="6095848" y="3017520"/>
            <a:ext cx="263644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spc="100" kern="0" dirty="0">
                <a:solidFill>
                  <a:srgbClr val="A6A6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11M FOLLOWERS</a:t>
            </a:r>
            <a:endParaRPr lang="en-US" sz="1000" dirty="0"/>
          </a:p>
        </p:txBody>
      </p:sp>
      <p:sp>
        <p:nvSpPr>
          <p:cNvPr id="25" name="Shape 14"/>
          <p:cNvSpPr/>
          <p:nvPr/>
        </p:nvSpPr>
        <p:spPr>
          <a:xfrm>
            <a:off x="7075741" y="3337560"/>
            <a:ext cx="274320" cy="274320"/>
          </a:xfrm>
          <a:prstGeom prst="ellipse">
            <a:avLst/>
          </a:prstGeom>
          <a:solidFill>
            <a:srgbClr val="F2F2F2"/>
          </a:solidFill>
          <a:ln/>
        </p:spPr>
      </p:sp>
      <p:pic>
        <p:nvPicPr>
          <p:cNvPr id="26" name="Image 9" descr="/tmp/claude-0/-home-user-dasdsjfoisdjfoisj-github-io/f756b5b4-9ba5-5f42-afc2-0aa030ec1623/scratchpad/asdeck/assets/ic-tiktok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135178" y="3396996"/>
            <a:ext cx="155448" cy="155448"/>
          </a:xfrm>
          <a:prstGeom prst="rect">
            <a:avLst/>
          </a:prstGeom>
        </p:spPr>
      </p:pic>
      <p:sp>
        <p:nvSpPr>
          <p:cNvPr id="27" name="Shape 15"/>
          <p:cNvSpPr/>
          <p:nvPr/>
        </p:nvSpPr>
        <p:spPr>
          <a:xfrm>
            <a:off x="7478078" y="3337560"/>
            <a:ext cx="274320" cy="274320"/>
          </a:xfrm>
          <a:prstGeom prst="ellipse">
            <a:avLst/>
          </a:prstGeom>
          <a:solidFill>
            <a:srgbClr val="F2F2F2"/>
          </a:solidFill>
          <a:ln/>
        </p:spPr>
      </p:sp>
      <p:pic>
        <p:nvPicPr>
          <p:cNvPr id="28" name="Image 10" descr="/tmp/claude-0/-home-user-dasdsjfoisdjfoisj-github-io/f756b5b4-9ba5-5f42-afc2-0aa030ec1623/scratchpad/asdeck/assets/ic-instagram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537513" y="3396996"/>
            <a:ext cx="155448" cy="155448"/>
          </a:xfrm>
          <a:prstGeom prst="rect">
            <a:avLst/>
          </a:prstGeom>
        </p:spPr>
      </p:pic>
      <p:pic>
        <p:nvPicPr>
          <p:cNvPr id="29" name="Image 11" descr="/tmp/claude-0/-home-user-dasdsjfoisdjfoisj-github-io/f756b5b4-9ba5-5f42-afc2-0aa030ec1623/scratchpad/asdeck/assets/av-macca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524733" y="1417320"/>
            <a:ext cx="1051560" cy="1051560"/>
          </a:xfrm>
          <a:prstGeom prst="rect">
            <a:avLst/>
          </a:prstGeom>
        </p:spPr>
      </p:pic>
      <p:sp>
        <p:nvSpPr>
          <p:cNvPr id="30" name="Text 16"/>
          <p:cNvSpPr/>
          <p:nvPr/>
        </p:nvSpPr>
        <p:spPr>
          <a:xfrm>
            <a:off x="8732291" y="2514600"/>
            <a:ext cx="2636444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F3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MACCA</a:t>
            </a:r>
            <a:endParaRPr lang="en-US" sz="1300" dirty="0"/>
          </a:p>
        </p:txBody>
      </p:sp>
      <p:sp>
        <p:nvSpPr>
          <p:cNvPr id="31" name="Text 17"/>
          <p:cNvSpPr/>
          <p:nvPr/>
        </p:nvSpPr>
        <p:spPr>
          <a:xfrm>
            <a:off x="8732291" y="3017520"/>
            <a:ext cx="263644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spc="100" kern="0" dirty="0">
                <a:solidFill>
                  <a:srgbClr val="A6A6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1.5M FOLLOWERS</a:t>
            </a:r>
            <a:endParaRPr lang="en-US" sz="1000" dirty="0"/>
          </a:p>
        </p:txBody>
      </p:sp>
      <p:sp>
        <p:nvSpPr>
          <p:cNvPr id="32" name="Shape 18"/>
          <p:cNvSpPr/>
          <p:nvPr/>
        </p:nvSpPr>
        <p:spPr>
          <a:xfrm>
            <a:off x="9511017" y="3337560"/>
            <a:ext cx="274320" cy="274320"/>
          </a:xfrm>
          <a:prstGeom prst="ellipse">
            <a:avLst/>
          </a:prstGeom>
          <a:solidFill>
            <a:srgbClr val="F2F2F2"/>
          </a:solidFill>
          <a:ln/>
        </p:spPr>
      </p:sp>
      <p:pic>
        <p:nvPicPr>
          <p:cNvPr id="33" name="Image 12" descr="/tmp/claude-0/-home-user-dasdsjfoisdjfoisj-github-io/f756b5b4-9ba5-5f42-afc2-0aa030ec1623/scratchpad/asdeck/assets/ic-x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570453" y="3396996"/>
            <a:ext cx="155448" cy="155448"/>
          </a:xfrm>
          <a:prstGeom prst="rect">
            <a:avLst/>
          </a:prstGeom>
        </p:spPr>
      </p:pic>
      <p:sp>
        <p:nvSpPr>
          <p:cNvPr id="34" name="Shape 19"/>
          <p:cNvSpPr/>
          <p:nvPr/>
        </p:nvSpPr>
        <p:spPr>
          <a:xfrm>
            <a:off x="9913353" y="3337560"/>
            <a:ext cx="274320" cy="274320"/>
          </a:xfrm>
          <a:prstGeom prst="ellipse">
            <a:avLst/>
          </a:prstGeom>
          <a:solidFill>
            <a:srgbClr val="F2F2F2"/>
          </a:solidFill>
          <a:ln/>
        </p:spPr>
      </p:sp>
      <p:pic>
        <p:nvPicPr>
          <p:cNvPr id="35" name="Image 13" descr="/tmp/claude-0/-home-user-dasdsjfoisdjfoisj-github-io/f756b5b4-9ba5-5f42-afc2-0aa030ec1623/scratchpad/asdeck/assets/ic-tiktok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972789" y="3396996"/>
            <a:ext cx="155448" cy="155448"/>
          </a:xfrm>
          <a:prstGeom prst="rect">
            <a:avLst/>
          </a:prstGeom>
        </p:spPr>
      </p:pic>
      <p:sp>
        <p:nvSpPr>
          <p:cNvPr id="36" name="Shape 20"/>
          <p:cNvSpPr/>
          <p:nvPr/>
        </p:nvSpPr>
        <p:spPr>
          <a:xfrm>
            <a:off x="10315689" y="3337560"/>
            <a:ext cx="274320" cy="274320"/>
          </a:xfrm>
          <a:prstGeom prst="ellipse">
            <a:avLst/>
          </a:prstGeom>
          <a:solidFill>
            <a:srgbClr val="F2F2F2"/>
          </a:solidFill>
          <a:ln/>
        </p:spPr>
      </p:sp>
      <p:pic>
        <p:nvPicPr>
          <p:cNvPr id="37" name="Image 14" descr="/tmp/claude-0/-home-user-dasdsjfoisdjfoisj-github-io/f756b5b4-9ba5-5f42-afc2-0aa030ec1623/scratchpad/asdeck/assets/ic-instagram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0375125" y="3396996"/>
            <a:ext cx="155448" cy="155448"/>
          </a:xfrm>
          <a:prstGeom prst="rect">
            <a:avLst/>
          </a:prstGeom>
        </p:spPr>
      </p:pic>
      <p:pic>
        <p:nvPicPr>
          <p:cNvPr id="38" name="Image 15" descr="/tmp/claude-0/-home-user-dasdsjfoisdjfoisj-github-io/f756b5b4-9ba5-5f42-afc2-0aa030ec1623/scratchpad/asdeck/assets/av-kuri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615402" y="3977640"/>
            <a:ext cx="1051560" cy="1051560"/>
          </a:xfrm>
          <a:prstGeom prst="rect">
            <a:avLst/>
          </a:prstGeom>
        </p:spPr>
      </p:pic>
      <p:sp>
        <p:nvSpPr>
          <p:cNvPr id="39" name="Text 21"/>
          <p:cNvSpPr/>
          <p:nvPr/>
        </p:nvSpPr>
        <p:spPr>
          <a:xfrm>
            <a:off x="822960" y="5074920"/>
            <a:ext cx="2636444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F3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KURI EMI</a:t>
            </a:r>
            <a:endParaRPr lang="en-US" sz="1300" dirty="0"/>
          </a:p>
        </p:txBody>
      </p:sp>
      <p:sp>
        <p:nvSpPr>
          <p:cNvPr id="40" name="Text 22"/>
          <p:cNvSpPr/>
          <p:nvPr/>
        </p:nvSpPr>
        <p:spPr>
          <a:xfrm>
            <a:off x="822960" y="5577840"/>
            <a:ext cx="263644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spc="100" kern="0" dirty="0">
                <a:solidFill>
                  <a:srgbClr val="A6A6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2.5M FOLLOWERS</a:t>
            </a:r>
            <a:endParaRPr lang="en-US" sz="1000" dirty="0"/>
          </a:p>
        </p:txBody>
      </p:sp>
      <p:sp>
        <p:nvSpPr>
          <p:cNvPr id="41" name="Shape 23"/>
          <p:cNvSpPr/>
          <p:nvPr/>
        </p:nvSpPr>
        <p:spPr>
          <a:xfrm>
            <a:off x="1601686" y="5897880"/>
            <a:ext cx="274320" cy="274320"/>
          </a:xfrm>
          <a:prstGeom prst="ellipse">
            <a:avLst/>
          </a:prstGeom>
          <a:solidFill>
            <a:srgbClr val="F2F2F2"/>
          </a:solidFill>
          <a:ln/>
        </p:spPr>
      </p:sp>
      <p:pic>
        <p:nvPicPr>
          <p:cNvPr id="42" name="Image 16" descr="/tmp/claude-0/-home-user-dasdsjfoisdjfoisj-github-io/f756b5b4-9ba5-5f42-afc2-0aa030ec1623/scratchpad/asdeck/assets/ic-x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661122" y="5957316"/>
            <a:ext cx="155448" cy="155448"/>
          </a:xfrm>
          <a:prstGeom prst="rect">
            <a:avLst/>
          </a:prstGeom>
        </p:spPr>
      </p:pic>
      <p:sp>
        <p:nvSpPr>
          <p:cNvPr id="43" name="Shape 24"/>
          <p:cNvSpPr/>
          <p:nvPr/>
        </p:nvSpPr>
        <p:spPr>
          <a:xfrm>
            <a:off x="2004022" y="5897880"/>
            <a:ext cx="274320" cy="274320"/>
          </a:xfrm>
          <a:prstGeom prst="ellipse">
            <a:avLst/>
          </a:prstGeom>
          <a:solidFill>
            <a:srgbClr val="F2F2F2"/>
          </a:solidFill>
          <a:ln/>
        </p:spPr>
      </p:sp>
      <p:pic>
        <p:nvPicPr>
          <p:cNvPr id="44" name="Image 17" descr="/tmp/claude-0/-home-user-dasdsjfoisdjfoisj-github-io/f756b5b4-9ba5-5f42-afc2-0aa030ec1623/scratchpad/asdeck/assets/ic-tiktok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2063458" y="5957316"/>
            <a:ext cx="155448" cy="155448"/>
          </a:xfrm>
          <a:prstGeom prst="rect">
            <a:avLst/>
          </a:prstGeom>
        </p:spPr>
      </p:pic>
      <p:sp>
        <p:nvSpPr>
          <p:cNvPr id="45" name="Shape 25"/>
          <p:cNvSpPr/>
          <p:nvPr/>
        </p:nvSpPr>
        <p:spPr>
          <a:xfrm>
            <a:off x="2406358" y="5897880"/>
            <a:ext cx="274320" cy="274320"/>
          </a:xfrm>
          <a:prstGeom prst="ellipse">
            <a:avLst/>
          </a:prstGeom>
          <a:solidFill>
            <a:srgbClr val="F2F2F2"/>
          </a:solidFill>
          <a:ln/>
        </p:spPr>
      </p:sp>
      <p:pic>
        <p:nvPicPr>
          <p:cNvPr id="46" name="Image 18" descr="/tmp/claude-0/-home-user-dasdsjfoisdjfoisj-github-io/f756b5b4-9ba5-5f42-afc2-0aa030ec1623/scratchpad/asdeck/assets/ic-instagram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2465794" y="5957316"/>
            <a:ext cx="155448" cy="155448"/>
          </a:xfrm>
          <a:prstGeom prst="rect">
            <a:avLst/>
          </a:prstGeom>
        </p:spPr>
      </p:pic>
      <p:pic>
        <p:nvPicPr>
          <p:cNvPr id="47" name="Image 19" descr="/tmp/claude-0/-home-user-dasdsjfoisdjfoisj-github-io/f756b5b4-9ba5-5f42-afc2-0aa030ec1623/scratchpad/asdeck/assets/av-qimmah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4251846" y="3977640"/>
            <a:ext cx="1051560" cy="1051560"/>
          </a:xfrm>
          <a:prstGeom prst="rect">
            <a:avLst/>
          </a:prstGeom>
        </p:spPr>
      </p:pic>
      <p:sp>
        <p:nvSpPr>
          <p:cNvPr id="48" name="Text 26"/>
          <p:cNvSpPr/>
          <p:nvPr/>
        </p:nvSpPr>
        <p:spPr>
          <a:xfrm>
            <a:off x="3459404" y="5074920"/>
            <a:ext cx="2636444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F3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QIMMAH RUSSO</a:t>
            </a:r>
            <a:endParaRPr lang="en-US" sz="1300" dirty="0"/>
          </a:p>
        </p:txBody>
      </p:sp>
      <p:sp>
        <p:nvSpPr>
          <p:cNvPr id="49" name="Text 27"/>
          <p:cNvSpPr/>
          <p:nvPr/>
        </p:nvSpPr>
        <p:spPr>
          <a:xfrm>
            <a:off x="3459404" y="5577840"/>
            <a:ext cx="263644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spc="100" kern="0" dirty="0">
                <a:solidFill>
                  <a:srgbClr val="A6A6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5M FOLLOWERS</a:t>
            </a:r>
            <a:endParaRPr lang="en-US" sz="1000" dirty="0"/>
          </a:p>
        </p:txBody>
      </p:sp>
      <p:sp>
        <p:nvSpPr>
          <p:cNvPr id="50" name="Shape 28"/>
          <p:cNvSpPr/>
          <p:nvPr/>
        </p:nvSpPr>
        <p:spPr>
          <a:xfrm>
            <a:off x="4238130" y="5897880"/>
            <a:ext cx="274320" cy="274320"/>
          </a:xfrm>
          <a:prstGeom prst="ellipse">
            <a:avLst/>
          </a:prstGeom>
          <a:solidFill>
            <a:srgbClr val="F2F2F2"/>
          </a:solidFill>
          <a:ln/>
        </p:spPr>
      </p:sp>
      <p:pic>
        <p:nvPicPr>
          <p:cNvPr id="51" name="Image 20" descr="/tmp/claude-0/-home-user-dasdsjfoisdjfoisj-github-io/f756b5b4-9ba5-5f42-afc2-0aa030ec1623/scratchpad/asdeck/assets/ic-x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4297566" y="5957316"/>
            <a:ext cx="155448" cy="155448"/>
          </a:xfrm>
          <a:prstGeom prst="rect">
            <a:avLst/>
          </a:prstGeom>
        </p:spPr>
      </p:pic>
      <p:sp>
        <p:nvSpPr>
          <p:cNvPr id="52" name="Shape 29"/>
          <p:cNvSpPr/>
          <p:nvPr/>
        </p:nvSpPr>
        <p:spPr>
          <a:xfrm>
            <a:off x="4640466" y="5897880"/>
            <a:ext cx="274320" cy="274320"/>
          </a:xfrm>
          <a:prstGeom prst="ellipse">
            <a:avLst/>
          </a:prstGeom>
          <a:solidFill>
            <a:srgbClr val="F2F2F2"/>
          </a:solidFill>
          <a:ln/>
        </p:spPr>
      </p:sp>
      <p:pic>
        <p:nvPicPr>
          <p:cNvPr id="53" name="Image 21" descr="/tmp/claude-0/-home-user-dasdsjfoisdjfoisj-github-io/f756b5b4-9ba5-5f42-afc2-0aa030ec1623/scratchpad/asdeck/assets/ic-tiktok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4699902" y="5957316"/>
            <a:ext cx="155448" cy="155448"/>
          </a:xfrm>
          <a:prstGeom prst="rect">
            <a:avLst/>
          </a:prstGeom>
        </p:spPr>
      </p:pic>
      <p:sp>
        <p:nvSpPr>
          <p:cNvPr id="54" name="Shape 30"/>
          <p:cNvSpPr/>
          <p:nvPr/>
        </p:nvSpPr>
        <p:spPr>
          <a:xfrm>
            <a:off x="5042802" y="5897880"/>
            <a:ext cx="274320" cy="274320"/>
          </a:xfrm>
          <a:prstGeom prst="ellipse">
            <a:avLst/>
          </a:prstGeom>
          <a:solidFill>
            <a:srgbClr val="F2F2F2"/>
          </a:solidFill>
          <a:ln/>
        </p:spPr>
      </p:sp>
      <p:pic>
        <p:nvPicPr>
          <p:cNvPr id="55" name="Image 22" descr="/tmp/claude-0/-home-user-dasdsjfoisdjfoisj-github-io/f756b5b4-9ba5-5f42-afc2-0aa030ec1623/scratchpad/asdeck/assets/ic-instagram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5102238" y="5957316"/>
            <a:ext cx="155448" cy="155448"/>
          </a:xfrm>
          <a:prstGeom prst="rect">
            <a:avLst/>
          </a:prstGeom>
        </p:spPr>
      </p:pic>
      <p:pic>
        <p:nvPicPr>
          <p:cNvPr id="56" name="Image 23" descr="/tmp/claude-0/-home-user-dasdsjfoisdjfoisj-github-io/f756b5b4-9ba5-5f42-afc2-0aa030ec1623/scratchpad/asdeck/assets/av-chloe.png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6888289" y="3977640"/>
            <a:ext cx="1051560" cy="1051560"/>
          </a:xfrm>
          <a:prstGeom prst="rect">
            <a:avLst/>
          </a:prstGeom>
        </p:spPr>
      </p:pic>
      <p:sp>
        <p:nvSpPr>
          <p:cNvPr id="57" name="Text 31"/>
          <p:cNvSpPr/>
          <p:nvPr/>
        </p:nvSpPr>
        <p:spPr>
          <a:xfrm>
            <a:off x="6095848" y="5074920"/>
            <a:ext cx="2636444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F3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CHLOE AMOUR</a:t>
            </a:r>
            <a:endParaRPr lang="en-US" sz="1300" dirty="0"/>
          </a:p>
        </p:txBody>
      </p:sp>
      <p:sp>
        <p:nvSpPr>
          <p:cNvPr id="58" name="Text 32"/>
          <p:cNvSpPr/>
          <p:nvPr/>
        </p:nvSpPr>
        <p:spPr>
          <a:xfrm>
            <a:off x="6095848" y="5577840"/>
            <a:ext cx="263644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spc="100" kern="0" dirty="0">
                <a:solidFill>
                  <a:srgbClr val="A6A6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2.4M FOLLOWERS</a:t>
            </a:r>
            <a:endParaRPr lang="en-US" sz="1000" dirty="0"/>
          </a:p>
        </p:txBody>
      </p:sp>
      <p:sp>
        <p:nvSpPr>
          <p:cNvPr id="59" name="Shape 33"/>
          <p:cNvSpPr/>
          <p:nvPr/>
        </p:nvSpPr>
        <p:spPr>
          <a:xfrm>
            <a:off x="6874574" y="5897880"/>
            <a:ext cx="274320" cy="274320"/>
          </a:xfrm>
          <a:prstGeom prst="ellipse">
            <a:avLst/>
          </a:prstGeom>
          <a:solidFill>
            <a:srgbClr val="F2F2F2"/>
          </a:solidFill>
          <a:ln/>
        </p:spPr>
      </p:sp>
      <p:pic>
        <p:nvPicPr>
          <p:cNvPr id="60" name="Image 24" descr="/tmp/claude-0/-home-user-dasdsjfoisdjfoisj-github-io/f756b5b4-9ba5-5f42-afc2-0aa030ec1623/scratchpad/asdeck/assets/ic-x.png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934010" y="5957316"/>
            <a:ext cx="155448" cy="155448"/>
          </a:xfrm>
          <a:prstGeom prst="rect">
            <a:avLst/>
          </a:prstGeom>
        </p:spPr>
      </p:pic>
      <p:sp>
        <p:nvSpPr>
          <p:cNvPr id="61" name="Shape 34"/>
          <p:cNvSpPr/>
          <p:nvPr/>
        </p:nvSpPr>
        <p:spPr>
          <a:xfrm>
            <a:off x="7276910" y="5897880"/>
            <a:ext cx="274320" cy="274320"/>
          </a:xfrm>
          <a:prstGeom prst="ellipse">
            <a:avLst/>
          </a:prstGeom>
          <a:solidFill>
            <a:srgbClr val="F2F2F2"/>
          </a:solidFill>
          <a:ln/>
        </p:spPr>
      </p:sp>
      <p:pic>
        <p:nvPicPr>
          <p:cNvPr id="62" name="Image 25" descr="/tmp/claude-0/-home-user-dasdsjfoisdjfoisj-github-io/f756b5b4-9ba5-5f42-afc2-0aa030ec1623/scratchpad/asdeck/assets/ic-tiktok.png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7336346" y="5957316"/>
            <a:ext cx="155448" cy="155448"/>
          </a:xfrm>
          <a:prstGeom prst="rect">
            <a:avLst/>
          </a:prstGeom>
        </p:spPr>
      </p:pic>
      <p:sp>
        <p:nvSpPr>
          <p:cNvPr id="63" name="Shape 35"/>
          <p:cNvSpPr/>
          <p:nvPr/>
        </p:nvSpPr>
        <p:spPr>
          <a:xfrm>
            <a:off x="7679246" y="5897880"/>
            <a:ext cx="274320" cy="274320"/>
          </a:xfrm>
          <a:prstGeom prst="ellipse">
            <a:avLst/>
          </a:prstGeom>
          <a:solidFill>
            <a:srgbClr val="F2F2F2"/>
          </a:solidFill>
          <a:ln/>
        </p:spPr>
      </p:sp>
      <p:pic>
        <p:nvPicPr>
          <p:cNvPr id="64" name="Image 26" descr="/tmp/claude-0/-home-user-dasdsjfoisdjfoisj-github-io/f756b5b4-9ba5-5f42-afc2-0aa030ec1623/scratchpad/asdeck/assets/ic-instagram.png">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7738682" y="5957316"/>
            <a:ext cx="155448" cy="155448"/>
          </a:xfrm>
          <a:prstGeom prst="rect">
            <a:avLst/>
          </a:prstGeom>
        </p:spPr>
      </p:pic>
      <p:pic>
        <p:nvPicPr>
          <p:cNvPr id="65" name="Image 27" descr="/tmp/claude-0/-home-user-dasdsjfoisdjfoisj-github-io/f756b5b4-9ba5-5f42-afc2-0aa030ec1623/scratchpad/asdeck/assets/av-zlata.png">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9524733" y="3977640"/>
            <a:ext cx="1051560" cy="1051560"/>
          </a:xfrm>
          <a:prstGeom prst="rect">
            <a:avLst/>
          </a:prstGeom>
        </p:spPr>
      </p:pic>
      <p:sp>
        <p:nvSpPr>
          <p:cNvPr id="66" name="Text 36"/>
          <p:cNvSpPr/>
          <p:nvPr/>
        </p:nvSpPr>
        <p:spPr>
          <a:xfrm>
            <a:off x="8732291" y="5074920"/>
            <a:ext cx="2636444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F3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ZLATA SHARVAROK</a:t>
            </a:r>
            <a:endParaRPr lang="en-US" sz="1300" dirty="0"/>
          </a:p>
        </p:txBody>
      </p:sp>
      <p:sp>
        <p:nvSpPr>
          <p:cNvPr id="67" name="Text 37"/>
          <p:cNvSpPr/>
          <p:nvPr/>
        </p:nvSpPr>
        <p:spPr>
          <a:xfrm>
            <a:off x="8732291" y="5577840"/>
            <a:ext cx="263644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spc="100" kern="0" dirty="0">
                <a:solidFill>
                  <a:srgbClr val="A6A6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1M FOLLOWERS</a:t>
            </a:r>
            <a:endParaRPr lang="en-US" sz="1000" dirty="0"/>
          </a:p>
        </p:txBody>
      </p:sp>
      <p:sp>
        <p:nvSpPr>
          <p:cNvPr id="68" name="Shape 38"/>
          <p:cNvSpPr/>
          <p:nvPr/>
        </p:nvSpPr>
        <p:spPr>
          <a:xfrm>
            <a:off x="9511017" y="5897880"/>
            <a:ext cx="274320" cy="274320"/>
          </a:xfrm>
          <a:prstGeom prst="ellipse">
            <a:avLst/>
          </a:prstGeom>
          <a:solidFill>
            <a:srgbClr val="F2F2F2"/>
          </a:solidFill>
          <a:ln/>
        </p:spPr>
      </p:sp>
      <p:pic>
        <p:nvPicPr>
          <p:cNvPr id="69" name="Image 28" descr="/tmp/claude-0/-home-user-dasdsjfoisdjfoisj-github-io/f756b5b4-9ba5-5f42-afc2-0aa030ec1623/scratchpad/asdeck/assets/ic-x.png">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9570453" y="5957316"/>
            <a:ext cx="155448" cy="155448"/>
          </a:xfrm>
          <a:prstGeom prst="rect">
            <a:avLst/>
          </a:prstGeom>
        </p:spPr>
      </p:pic>
      <p:sp>
        <p:nvSpPr>
          <p:cNvPr id="70" name="Shape 39"/>
          <p:cNvSpPr/>
          <p:nvPr/>
        </p:nvSpPr>
        <p:spPr>
          <a:xfrm>
            <a:off x="9913353" y="5897880"/>
            <a:ext cx="274320" cy="274320"/>
          </a:xfrm>
          <a:prstGeom prst="ellipse">
            <a:avLst/>
          </a:prstGeom>
          <a:solidFill>
            <a:srgbClr val="F2F2F2"/>
          </a:solidFill>
          <a:ln/>
        </p:spPr>
      </p:sp>
      <p:pic>
        <p:nvPicPr>
          <p:cNvPr id="71" name="Image 29" descr="/tmp/claude-0/-home-user-dasdsjfoisdjfoisj-github-io/f756b5b4-9ba5-5f42-afc2-0aa030ec1623/scratchpad/asdeck/assets/ic-tiktok.png">    </p:cNvPr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9972789" y="5957316"/>
            <a:ext cx="155448" cy="155448"/>
          </a:xfrm>
          <a:prstGeom prst="rect">
            <a:avLst/>
          </a:prstGeom>
        </p:spPr>
      </p:pic>
      <p:sp>
        <p:nvSpPr>
          <p:cNvPr id="72" name="Shape 40"/>
          <p:cNvSpPr/>
          <p:nvPr/>
        </p:nvSpPr>
        <p:spPr>
          <a:xfrm>
            <a:off x="10315689" y="5897880"/>
            <a:ext cx="274320" cy="274320"/>
          </a:xfrm>
          <a:prstGeom prst="ellipse">
            <a:avLst/>
          </a:prstGeom>
          <a:solidFill>
            <a:srgbClr val="F2F2F2"/>
          </a:solidFill>
          <a:ln/>
        </p:spPr>
      </p:sp>
      <p:pic>
        <p:nvPicPr>
          <p:cNvPr id="73" name="Image 30" descr="/tmp/claude-0/-home-user-dasdsjfoisdjfoisj-github-io/f756b5b4-9ba5-5f42-afc2-0aa030ec1623/scratchpad/asdeck/assets/ic-instagram.png">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10375125" y="5957316"/>
            <a:ext cx="155448" cy="15544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FF3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DO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21792" y="77724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Услуги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495148" y="1828800"/>
            <a:ext cx="3520440" cy="2834640"/>
          </a:xfrm>
          <a:prstGeom prst="roundRect">
            <a:avLst>
              <a:gd name="adj" fmla="val 4516"/>
            </a:avLst>
          </a:prstGeom>
          <a:solidFill>
            <a:srgbClr val="111114"/>
          </a:solidFill>
          <a:ln w="12700">
            <a:solidFill>
              <a:srgbClr val="FF149A">
                <a:alpha val="45000"/>
              </a:srgbClr>
            </a:solidFill>
            <a:prstDash val="solid"/>
          </a:ln>
          <a:effectLst>
            <a:outerShdw sx="100000" sy="100000" kx="0" ky="0" algn="bl" rotWithShape="0" blurRad="177800" dist="50800" dir="16200000">
              <a:srgbClr val="FF0090">
                <a:alpha val="5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15188" y="2103120"/>
            <a:ext cx="1371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3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815188" y="2788920"/>
            <a:ext cx="288036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24/7 OnlyFans Coverage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15188" y="3566160"/>
            <a:ext cx="28803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C2C2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Круглосуточное ведение OnlyFans: чаттинг, продажи, удержание и апселлы. Персональный менеджер у каждого автора.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335628" y="1828800"/>
            <a:ext cx="3520440" cy="2834640"/>
          </a:xfrm>
          <a:prstGeom prst="roundRect">
            <a:avLst>
              <a:gd name="adj" fmla="val 4516"/>
            </a:avLst>
          </a:prstGeom>
          <a:solidFill>
            <a:srgbClr val="111114"/>
          </a:solidFill>
          <a:ln w="12700">
            <a:solidFill>
              <a:srgbClr val="FF149A">
                <a:alpha val="45000"/>
              </a:srgbClr>
            </a:solidFill>
            <a:prstDash val="solid"/>
          </a:ln>
          <a:effectLst>
            <a:outerShdw sx="100000" sy="100000" kx="0" ky="0" algn="bl" rotWithShape="0" blurRad="177800" dist="50800" dir="16200000">
              <a:srgbClr val="FF0090">
                <a:alpha val="5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655668" y="2103120"/>
            <a:ext cx="1371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3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4655668" y="2788920"/>
            <a:ext cx="288036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Social Media Management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4655668" y="3566160"/>
            <a:ext cx="28803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C2C2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Ведение и оптимизация Instagram, TikTok и X: контент-план, трафик и рост аудитории.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176108" y="1828800"/>
            <a:ext cx="3520440" cy="2834640"/>
          </a:xfrm>
          <a:prstGeom prst="roundRect">
            <a:avLst>
              <a:gd name="adj" fmla="val 4516"/>
            </a:avLst>
          </a:prstGeom>
          <a:solidFill>
            <a:srgbClr val="111114"/>
          </a:solidFill>
          <a:ln w="12700">
            <a:solidFill>
              <a:srgbClr val="FF149A">
                <a:alpha val="45000"/>
              </a:srgbClr>
            </a:solidFill>
            <a:prstDash val="solid"/>
          </a:ln>
          <a:effectLst>
            <a:outerShdw sx="100000" sy="100000" kx="0" ky="0" algn="bl" rotWithShape="0" blurRad="177800" dist="50800" dir="16200000">
              <a:srgbClr val="FF0090">
                <a:alpha val="5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496148" y="2103120"/>
            <a:ext cx="1371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3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8496148" y="2788920"/>
            <a:ext cx="288036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 Houses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8496148" y="3566160"/>
            <a:ext cx="28803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C2C2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Съёмки и продакшн в контент-хаусах: идеи, контроль качества и стабильный поток контента.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95148" y="4983480"/>
            <a:ext cx="3520440" cy="685800"/>
          </a:xfrm>
          <a:prstGeom prst="roundRect">
            <a:avLst>
              <a:gd name="adj" fmla="val 16000"/>
            </a:avLst>
          </a:prstGeom>
          <a:solidFill>
            <a:srgbClr val="17171B"/>
          </a:solidFill>
          <a:ln w="9525">
            <a:solidFill>
              <a:srgbClr val="FFFFFF">
                <a:alpha val="18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51180" y="5202936"/>
            <a:ext cx="237744" cy="237744"/>
          </a:xfrm>
          <a:prstGeom prst="ellipse">
            <a:avLst/>
          </a:prstGeom>
          <a:solidFill>
            <a:srgbClr val="FF149A"/>
          </a:solidFill>
          <a:ln/>
        </p:spPr>
      </p:sp>
      <p:sp>
        <p:nvSpPr>
          <p:cNvPr id="18" name="Text 16"/>
          <p:cNvSpPr/>
          <p:nvPr/>
        </p:nvSpPr>
        <p:spPr>
          <a:xfrm>
            <a:off x="1153516" y="4983480"/>
            <a:ext cx="2697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4E4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Chatting &amp; Sales / Чаттинг и продажи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335628" y="4983480"/>
            <a:ext cx="3520440" cy="685800"/>
          </a:xfrm>
          <a:prstGeom prst="roundRect">
            <a:avLst>
              <a:gd name="adj" fmla="val 16000"/>
            </a:avLst>
          </a:prstGeom>
          <a:solidFill>
            <a:srgbClr val="17171B"/>
          </a:solidFill>
          <a:ln w="9525">
            <a:solidFill>
              <a:srgbClr val="FFFFFF">
                <a:alpha val="18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91660" y="5202936"/>
            <a:ext cx="237744" cy="237744"/>
          </a:xfrm>
          <a:prstGeom prst="ellipse">
            <a:avLst/>
          </a:prstGeom>
          <a:solidFill>
            <a:srgbClr val="FF149A"/>
          </a:solidFill>
          <a:ln/>
        </p:spPr>
      </p:sp>
      <p:sp>
        <p:nvSpPr>
          <p:cNvPr id="21" name="Text 19"/>
          <p:cNvSpPr/>
          <p:nvPr/>
        </p:nvSpPr>
        <p:spPr>
          <a:xfrm>
            <a:off x="4993996" y="4983480"/>
            <a:ext cx="2697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4E4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 Planning / Контент-план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8176108" y="4983480"/>
            <a:ext cx="3520440" cy="685800"/>
          </a:xfrm>
          <a:prstGeom prst="roundRect">
            <a:avLst>
              <a:gd name="adj" fmla="val 16000"/>
            </a:avLst>
          </a:prstGeom>
          <a:solidFill>
            <a:srgbClr val="17171B"/>
          </a:solidFill>
          <a:ln w="9525">
            <a:solidFill>
              <a:srgbClr val="FFFFFF">
                <a:alpha val="18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432140" y="5202936"/>
            <a:ext cx="237744" cy="237744"/>
          </a:xfrm>
          <a:prstGeom prst="ellipse">
            <a:avLst/>
          </a:prstGeom>
          <a:solidFill>
            <a:srgbClr val="FF149A"/>
          </a:solidFill>
          <a:ln/>
        </p:spPr>
      </p:sp>
      <p:sp>
        <p:nvSpPr>
          <p:cNvPr id="24" name="Text 22"/>
          <p:cNvSpPr/>
          <p:nvPr/>
        </p:nvSpPr>
        <p:spPr>
          <a:xfrm>
            <a:off x="8834476" y="4983480"/>
            <a:ext cx="2697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4E4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Analytics &amp; Growth / Аналитика и рост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FF3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NUMBERS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21792" y="77724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Цифры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454000" y="1920240"/>
            <a:ext cx="2615184" cy="2148840"/>
          </a:xfrm>
          <a:prstGeom prst="roundRect">
            <a:avLst>
              <a:gd name="adj" fmla="val 5957"/>
            </a:avLst>
          </a:prstGeom>
          <a:solidFill>
            <a:srgbClr val="111114"/>
          </a:solidFill>
          <a:ln w="9525">
            <a:solidFill>
              <a:srgbClr val="FFFFFF">
                <a:alpha val="18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4000" y="2240280"/>
            <a:ext cx="261518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3EA5"/>
                </a:solidFill>
                <a:effectLst>
                  <a:glow rad="101600">
                    <a:srgbClr val="FF0090">
                      <a:alpha val="50000"/>
                    </a:srgbClr>
                  </a:glow>
                </a:effectLst>
                <a:latin typeface="Arial" pitchFamily="34" charset="0"/>
                <a:ea typeface="Arial" pitchFamily="34" charset="-122"/>
                <a:cs typeface="Arial" pitchFamily="34" charset="-120"/>
              </a:rPr>
              <a:t>79M+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454000" y="3246120"/>
            <a:ext cx="261518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Combined audience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454000" y="3566160"/>
            <a:ext cx="261518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A6A6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Суммарная аудитория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343504" y="1920240"/>
            <a:ext cx="2615184" cy="2148840"/>
          </a:xfrm>
          <a:prstGeom prst="roundRect">
            <a:avLst>
              <a:gd name="adj" fmla="val 5957"/>
            </a:avLst>
          </a:prstGeom>
          <a:solidFill>
            <a:srgbClr val="111114"/>
          </a:solidFill>
          <a:ln w="9525">
            <a:solidFill>
              <a:srgbClr val="FFFFFF">
                <a:alpha val="18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43504" y="2240280"/>
            <a:ext cx="261518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3EA5"/>
                </a:solidFill>
                <a:effectLst>
                  <a:glow rad="101600">
                    <a:srgbClr val="FF0090">
                      <a:alpha val="50000"/>
                    </a:srgbClr>
                  </a:glow>
                </a:effectLst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4800" dirty="0"/>
          </a:p>
        </p:txBody>
      </p:sp>
      <p:sp>
        <p:nvSpPr>
          <p:cNvPr id="10" name="Text 8"/>
          <p:cNvSpPr/>
          <p:nvPr/>
        </p:nvSpPr>
        <p:spPr>
          <a:xfrm>
            <a:off x="3343504" y="3246120"/>
            <a:ext cx="261518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creators featured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343504" y="3566160"/>
            <a:ext cx="261518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A6A6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Топ-авторов в подборке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233008" y="1920240"/>
            <a:ext cx="2615184" cy="2148840"/>
          </a:xfrm>
          <a:prstGeom prst="roundRect">
            <a:avLst>
              <a:gd name="adj" fmla="val 5957"/>
            </a:avLst>
          </a:prstGeom>
          <a:solidFill>
            <a:srgbClr val="111114"/>
          </a:solidFill>
          <a:ln w="9525">
            <a:solidFill>
              <a:srgbClr val="FFFFFF">
                <a:alpha val="18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33008" y="2240280"/>
            <a:ext cx="261518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3EA5"/>
                </a:solidFill>
                <a:effectLst>
                  <a:glow rad="101600">
                    <a:srgbClr val="FF0090">
                      <a:alpha val="50000"/>
                    </a:srgbClr>
                  </a:glow>
                </a:effectLst>
                <a:latin typeface="Arial" pitchFamily="34" charset="0"/>
                <a:ea typeface="Arial" pitchFamily="34" charset="-122"/>
                <a:cs typeface="Arial" pitchFamily="34" charset="-120"/>
              </a:rPr>
              <a:t>3+</a:t>
            </a:r>
            <a:endParaRPr lang="en-US" sz="4800" dirty="0"/>
          </a:p>
        </p:txBody>
      </p:sp>
      <p:sp>
        <p:nvSpPr>
          <p:cNvPr id="14" name="Text 12"/>
          <p:cNvSpPr/>
          <p:nvPr/>
        </p:nvSpPr>
        <p:spPr>
          <a:xfrm>
            <a:off x="6233008" y="3246120"/>
            <a:ext cx="261518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Years of experience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6233008" y="3566160"/>
            <a:ext cx="261518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A6A6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Года опыта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9122512" y="1920240"/>
            <a:ext cx="2615184" cy="2148840"/>
          </a:xfrm>
          <a:prstGeom prst="roundRect">
            <a:avLst>
              <a:gd name="adj" fmla="val 5957"/>
            </a:avLst>
          </a:prstGeom>
          <a:solidFill>
            <a:srgbClr val="111114"/>
          </a:solidFill>
          <a:ln w="9525">
            <a:solidFill>
              <a:srgbClr val="FFFFFF">
                <a:alpha val="1800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22512" y="2240280"/>
            <a:ext cx="261518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3EA5"/>
                </a:solidFill>
                <a:effectLst>
                  <a:glow rad="101600">
                    <a:srgbClr val="FF0090">
                      <a:alpha val="50000"/>
                    </a:srgbClr>
                  </a:glow>
                </a:effectLst>
                <a:latin typeface="Arial" pitchFamily="34" charset="0"/>
                <a:ea typeface="Arial" pitchFamily="34" charset="-122"/>
                <a:cs typeface="Arial" pitchFamily="34" charset="-120"/>
              </a:rPr>
              <a:t>24/7</a:t>
            </a:r>
            <a:endParaRPr lang="en-US" sz="4800" dirty="0"/>
          </a:p>
        </p:txBody>
      </p:sp>
      <p:sp>
        <p:nvSpPr>
          <p:cNvPr id="18" name="Text 16"/>
          <p:cNvSpPr/>
          <p:nvPr/>
        </p:nvSpPr>
        <p:spPr>
          <a:xfrm>
            <a:off x="9122512" y="3246120"/>
            <a:ext cx="261518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support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9122512" y="3566160"/>
            <a:ext cx="261518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A6A6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Поддержка без выходных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454000" y="4572000"/>
            <a:ext cx="11283696" cy="1234440"/>
          </a:xfrm>
          <a:prstGeom prst="roundRect">
            <a:avLst>
              <a:gd name="adj" fmla="val 8889"/>
            </a:avLst>
          </a:prstGeom>
          <a:solidFill>
            <a:srgbClr val="111114"/>
          </a:solidFill>
          <a:ln w="9525">
            <a:solidFill>
              <a:srgbClr val="FFFFFF">
                <a:alpha val="1800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1200" y="4754880"/>
            <a:ext cx="1036929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“Within 3 months my subscriber count doubled, and my monthly income tripled.”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911200" y="5303520"/>
            <a:ext cx="103692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3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«За 3 месяца подписчики удвоились, а доход вырос втрое.» — отзыв автора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FF3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WE WORK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21792" y="77724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Как мы работаем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454000" y="2011680"/>
            <a:ext cx="2615184" cy="3291840"/>
          </a:xfrm>
          <a:prstGeom prst="roundRect">
            <a:avLst>
              <a:gd name="adj" fmla="val 4895"/>
            </a:avLst>
          </a:prstGeom>
          <a:solidFill>
            <a:srgbClr val="111114"/>
          </a:solidFill>
          <a:ln w="12700">
            <a:solidFill>
              <a:srgbClr val="FF149A">
                <a:alpha val="4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4040" y="2331720"/>
            <a:ext cx="822960" cy="822960"/>
          </a:xfrm>
          <a:prstGeom prst="ellipse">
            <a:avLst/>
          </a:prstGeom>
          <a:solidFill>
            <a:srgbClr val="C8006A"/>
          </a:solidFill>
          <a:ln w="15875">
            <a:solidFill>
              <a:srgbClr val="FF3EA5"/>
            </a:solidFill>
            <a:prstDash val="solid"/>
          </a:ln>
          <a:effectLst>
            <a:outerShdw sx="100000" sy="100000" kx="0" ky="0" algn="bl" rotWithShape="0" blurRad="177800" dist="50800" dir="16200000">
              <a:srgbClr val="FF0090">
                <a:alpha val="5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4040" y="2395728"/>
            <a:ext cx="8229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774040" y="3337560"/>
            <a:ext cx="197510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Onboarding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74040" y="3703320"/>
            <a:ext cx="19751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3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Знакомство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774040" y="4114800"/>
            <a:ext cx="19751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2C2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Изучаем автора, бренд и цели. Закрепляем персонального менеджера.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050896" y="3246120"/>
            <a:ext cx="3108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3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343504" y="2011680"/>
            <a:ext cx="2615184" cy="3291840"/>
          </a:xfrm>
          <a:prstGeom prst="roundRect">
            <a:avLst>
              <a:gd name="adj" fmla="val 4895"/>
            </a:avLst>
          </a:prstGeom>
          <a:solidFill>
            <a:srgbClr val="111114"/>
          </a:solidFill>
          <a:ln w="12700">
            <a:solidFill>
              <a:srgbClr val="FF149A">
                <a:alpha val="40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663544" y="2331720"/>
            <a:ext cx="822960" cy="822960"/>
          </a:xfrm>
          <a:prstGeom prst="ellipse">
            <a:avLst/>
          </a:prstGeom>
          <a:solidFill>
            <a:srgbClr val="C8006A"/>
          </a:solidFill>
          <a:ln w="15875">
            <a:solidFill>
              <a:srgbClr val="FF3EA5"/>
            </a:solidFill>
            <a:prstDash val="solid"/>
          </a:ln>
          <a:effectLst>
            <a:outerShdw sx="100000" sy="100000" kx="0" ky="0" algn="bl" rotWithShape="0" blurRad="177800" dist="50800" dir="16200000">
              <a:srgbClr val="FF0090">
                <a:alpha val="5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3663544" y="2395728"/>
            <a:ext cx="8229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3663544" y="3337560"/>
            <a:ext cx="197510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Strategy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3663544" y="3703320"/>
            <a:ext cx="19751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3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Стратегия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3663544" y="4114800"/>
            <a:ext cx="19751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2C2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Строим индивидуальный план роста и монетизации.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40400" y="3246120"/>
            <a:ext cx="3108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3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6233008" y="2011680"/>
            <a:ext cx="2615184" cy="3291840"/>
          </a:xfrm>
          <a:prstGeom prst="roundRect">
            <a:avLst>
              <a:gd name="adj" fmla="val 4895"/>
            </a:avLst>
          </a:prstGeom>
          <a:solidFill>
            <a:srgbClr val="111114"/>
          </a:solidFill>
          <a:ln w="12700">
            <a:solidFill>
              <a:srgbClr val="FF149A">
                <a:alpha val="40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553048" y="2331720"/>
            <a:ext cx="822960" cy="822960"/>
          </a:xfrm>
          <a:prstGeom prst="ellipse">
            <a:avLst/>
          </a:prstGeom>
          <a:solidFill>
            <a:srgbClr val="C8006A"/>
          </a:solidFill>
          <a:ln w="15875">
            <a:solidFill>
              <a:srgbClr val="FF3EA5"/>
            </a:solidFill>
            <a:prstDash val="solid"/>
          </a:ln>
          <a:effectLst>
            <a:outerShdw sx="100000" sy="100000" kx="0" ky="0" algn="bl" rotWithShape="0" blurRad="177800" dist="50800" dir="16200000">
              <a:srgbClr val="FF0090">
                <a:alpha val="5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553048" y="2395728"/>
            <a:ext cx="8229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3000" dirty="0"/>
          </a:p>
        </p:txBody>
      </p:sp>
      <p:sp>
        <p:nvSpPr>
          <p:cNvPr id="21" name="Text 19"/>
          <p:cNvSpPr/>
          <p:nvPr/>
        </p:nvSpPr>
        <p:spPr>
          <a:xfrm>
            <a:off x="6553048" y="3337560"/>
            <a:ext cx="197510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 &amp; Social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6553048" y="3703320"/>
            <a:ext cx="19751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3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Контент и соцсети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6553048" y="4114800"/>
            <a:ext cx="19751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2C2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Контент-план, съёмки, ведение Instagram, TikTok и X.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8829904" y="3246120"/>
            <a:ext cx="3108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3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25" name="Shape 23"/>
          <p:cNvSpPr/>
          <p:nvPr/>
        </p:nvSpPr>
        <p:spPr>
          <a:xfrm>
            <a:off x="9122512" y="2011680"/>
            <a:ext cx="2615184" cy="3291840"/>
          </a:xfrm>
          <a:prstGeom prst="roundRect">
            <a:avLst>
              <a:gd name="adj" fmla="val 4895"/>
            </a:avLst>
          </a:prstGeom>
          <a:solidFill>
            <a:srgbClr val="111114"/>
          </a:solidFill>
          <a:ln w="12700">
            <a:solidFill>
              <a:srgbClr val="FF149A">
                <a:alpha val="40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9442552" y="2331720"/>
            <a:ext cx="822960" cy="822960"/>
          </a:xfrm>
          <a:prstGeom prst="ellipse">
            <a:avLst/>
          </a:prstGeom>
          <a:solidFill>
            <a:srgbClr val="C8006A"/>
          </a:solidFill>
          <a:ln w="15875">
            <a:solidFill>
              <a:srgbClr val="FF3EA5"/>
            </a:solidFill>
            <a:prstDash val="solid"/>
          </a:ln>
          <a:effectLst>
            <a:outerShdw sx="100000" sy="100000" kx="0" ky="0" algn="bl" rotWithShape="0" blurRad="177800" dist="50800" dir="16200000">
              <a:srgbClr val="FF0090">
                <a:alpha val="5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9442552" y="2395728"/>
            <a:ext cx="8229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3000" dirty="0"/>
          </a:p>
        </p:txBody>
      </p:sp>
      <p:sp>
        <p:nvSpPr>
          <p:cNvPr id="28" name="Text 26"/>
          <p:cNvSpPr/>
          <p:nvPr/>
        </p:nvSpPr>
        <p:spPr>
          <a:xfrm>
            <a:off x="9442552" y="3337560"/>
            <a:ext cx="197510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&amp; Retention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9442552" y="3703320"/>
            <a:ext cx="19751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3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Рост и удержание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9442552" y="4114800"/>
            <a:ext cx="19751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2C2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Чаттинг, продажи, апселлы, аналитика и масштабирование.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FF3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AS TALENT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21792" y="77724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Почему мы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495148" y="192024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111114"/>
          </a:solidFill>
          <a:ln w="9525">
            <a:solidFill>
              <a:srgbClr val="FFFFFF">
                <a:alpha val="18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69468" y="2212848"/>
            <a:ext cx="365760" cy="365760"/>
          </a:xfrm>
          <a:prstGeom prst="ellipse">
            <a:avLst/>
          </a:prstGeom>
          <a:solidFill>
            <a:srgbClr val="FF149A"/>
          </a:solidFill>
          <a:ln w="12700">
            <a:solidFill>
              <a:srgbClr val="FF3EA5"/>
            </a:solidFill>
            <a:prstDash val="solid"/>
          </a:ln>
          <a:effectLst>
            <a:outerShdw sx="100000" sy="100000" kx="0" ky="0" algn="bl" rotWithShape="0" blurRad="177800" dist="50800" dir="16200000">
              <a:srgbClr val="FF0090">
                <a:alpha val="5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69468" y="219456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318108" y="2176272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3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manager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318108" y="2560320"/>
            <a:ext cx="24688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C6C6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Персональный менеджер и обучение для каждого клиента.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35628" y="192024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111114"/>
          </a:solidFill>
          <a:ln w="9525">
            <a:solidFill>
              <a:srgbClr val="FFFFFF">
                <a:alpha val="1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09948" y="2212848"/>
            <a:ext cx="365760" cy="365760"/>
          </a:xfrm>
          <a:prstGeom prst="ellipse">
            <a:avLst/>
          </a:prstGeom>
          <a:solidFill>
            <a:srgbClr val="FF149A"/>
          </a:solidFill>
          <a:ln w="12700">
            <a:solidFill>
              <a:srgbClr val="FF3EA5"/>
            </a:solidFill>
            <a:prstDash val="solid"/>
          </a:ln>
          <a:effectLst>
            <a:outerShdw sx="100000" sy="100000" kx="0" ky="0" algn="bl" rotWithShape="0" blurRad="177800" dist="50800" dir="16200000">
              <a:srgbClr val="FF0090">
                <a:alpha val="5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609948" y="219456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158588" y="2176272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3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24/7 support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158588" y="2560320"/>
            <a:ext cx="24688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C6C6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Команда поддержки на связи круглосуточно.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176108" y="192024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111114"/>
          </a:solidFill>
          <a:ln w="9525">
            <a:solidFill>
              <a:srgbClr val="FFFFFF">
                <a:alpha val="18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450428" y="2212848"/>
            <a:ext cx="365760" cy="365760"/>
          </a:xfrm>
          <a:prstGeom prst="ellipse">
            <a:avLst/>
          </a:prstGeom>
          <a:solidFill>
            <a:srgbClr val="FF149A"/>
          </a:solidFill>
          <a:ln w="12700">
            <a:solidFill>
              <a:srgbClr val="FF3EA5"/>
            </a:solidFill>
            <a:prstDash val="solid"/>
          </a:ln>
          <a:effectLst>
            <a:outerShdw sx="100000" sy="100000" kx="0" ky="0" algn="bl" rotWithShape="0" blurRad="177800" dist="50800" dir="16200000">
              <a:srgbClr val="FF0090">
                <a:alpha val="5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450428" y="219456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999068" y="2176272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3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Data-driven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999068" y="2560320"/>
            <a:ext cx="24688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C6C6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Решения на основе аналитики и метрик эффективности.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95148" y="361188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111114"/>
          </a:solidFill>
          <a:ln w="9525">
            <a:solidFill>
              <a:srgbClr val="FFFFFF">
                <a:alpha val="18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69468" y="3904488"/>
            <a:ext cx="365760" cy="365760"/>
          </a:xfrm>
          <a:prstGeom prst="ellipse">
            <a:avLst/>
          </a:prstGeom>
          <a:solidFill>
            <a:srgbClr val="FF149A"/>
          </a:solidFill>
          <a:ln w="12700">
            <a:solidFill>
              <a:srgbClr val="FF3EA5"/>
            </a:solidFill>
            <a:prstDash val="solid"/>
          </a:ln>
          <a:effectLst>
            <a:outerShdw sx="100000" sy="100000" kx="0" ky="0" algn="bl" rotWithShape="0" blurRad="177800" dist="50800" dir="16200000">
              <a:srgbClr val="FF0090">
                <a:alpha val="5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769468" y="388620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318108" y="3867912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3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Creative freedom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318108" y="4251960"/>
            <a:ext cx="24688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C6C6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Вы создаёте контент — мы берём на себя бизнес.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335628" y="361188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111114"/>
          </a:solidFill>
          <a:ln w="9525">
            <a:solidFill>
              <a:srgbClr val="FFFFFF">
                <a:alpha val="18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609948" y="3904488"/>
            <a:ext cx="365760" cy="365760"/>
          </a:xfrm>
          <a:prstGeom prst="ellipse">
            <a:avLst/>
          </a:prstGeom>
          <a:solidFill>
            <a:srgbClr val="FF149A"/>
          </a:solidFill>
          <a:ln w="12700">
            <a:solidFill>
              <a:srgbClr val="FF3EA5"/>
            </a:solidFill>
            <a:prstDash val="solid"/>
          </a:ln>
          <a:effectLst>
            <a:outerShdw sx="100000" sy="100000" kx="0" ky="0" algn="bl" rotWithShape="0" blurRad="177800" dist="50800" dir="16200000">
              <a:srgbClr val="FF0090">
                <a:alpha val="5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4609948" y="388620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5158588" y="3867912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3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levels welcome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5158588" y="4251960"/>
            <a:ext cx="24688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C6C6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Работаем с авторами любого уровня — от старта до топа.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8176108" y="361188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111114"/>
          </a:solidFill>
          <a:ln w="9525">
            <a:solidFill>
              <a:srgbClr val="FFFFFF">
                <a:alpha val="18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450428" y="3904488"/>
            <a:ext cx="365760" cy="365760"/>
          </a:xfrm>
          <a:prstGeom prst="ellipse">
            <a:avLst/>
          </a:prstGeom>
          <a:solidFill>
            <a:srgbClr val="FF149A"/>
          </a:solidFill>
          <a:ln w="12700">
            <a:solidFill>
              <a:srgbClr val="FF3EA5"/>
            </a:solidFill>
            <a:prstDash val="solid"/>
          </a:ln>
          <a:effectLst>
            <a:outerShdw sx="100000" sy="100000" kx="0" ky="0" algn="bl" rotWithShape="0" blurRad="177800" dist="50800" dir="16200000">
              <a:srgbClr val="FF0090">
                <a:alpha val="50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8450428" y="388620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8999068" y="3867912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3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Global reach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8999068" y="4251960"/>
            <a:ext cx="24688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C6C6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Модели и блогеры по всему миру, мужчины и женщины.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7373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FF3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LET'S TALK  /  ДАВАЙТЕ РАБОТАТЬ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77240" y="2103120"/>
            <a:ext cx="82296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Unlock your true</a:t>
            </a:r>
            <a:endParaRPr lang="en-US" sz="5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potential.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822960" y="384048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D8D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Присоединяйся к AS Talent Agency — и раскрой свой потенциал вместе с нами.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822960" y="4709160"/>
            <a:ext cx="3108960" cy="822960"/>
          </a:xfrm>
          <a:prstGeom prst="roundRect">
            <a:avLst>
              <a:gd name="adj" fmla="val 13333"/>
            </a:avLst>
          </a:prstGeom>
          <a:solidFill>
            <a:srgbClr val="111114"/>
          </a:solidFill>
          <a:ln w="9525">
            <a:solidFill>
              <a:srgbClr val="FFFFFF">
                <a:alpha val="18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4709160"/>
            <a:ext cx="3108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astalentagency.com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069080" y="4709160"/>
            <a:ext cx="3108960" cy="822960"/>
          </a:xfrm>
          <a:prstGeom prst="roundRect">
            <a:avLst>
              <a:gd name="adj" fmla="val 13333"/>
            </a:avLst>
          </a:prstGeom>
          <a:solidFill>
            <a:srgbClr val="111114"/>
          </a:solidFill>
          <a:ln w="9525">
            <a:solidFill>
              <a:srgbClr val="FFFFFF">
                <a:alpha val="18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069080" y="4709160"/>
            <a:ext cx="3108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3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@astalentagency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AS Talent Agency</dc:title>
  <dc:subject>PptxGenJS Presentation</dc:subject>
  <dc:creator>AS Talent Agency</dc:creator>
  <cp:lastModifiedBy>AS Talent Agency</cp:lastModifiedBy>
  <cp:revision>1</cp:revision>
  <dcterms:created xsi:type="dcterms:W3CDTF">2026-08-13T22:01:43Z</dcterms:created>
  <dcterms:modified xsi:type="dcterms:W3CDTF">2026-08-13T22:01:43Z</dcterms:modified>
</cp:coreProperties>
</file>